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31B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9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SHIRÁ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image" Target="../media/image-2-6.jpg"/><Relationship Id="rId7" Type="http://schemas.openxmlformats.org/officeDocument/2006/relationships/image" Target="../media/image-2-7.jpg"/><Relationship Id="rId8" Type="http://schemas.openxmlformats.org/officeDocument/2006/relationships/image" Target="../media/image-2-8.jpg"/><Relationship Id="rId9" Type="http://schemas.openxmlformats.org/officeDocument/2006/relationships/image" Target="../media/image-2-9.jpg"/><Relationship Id="rId10" Type="http://schemas.openxmlformats.org/officeDocument/2006/relationships/image" Target="../media/image-2-10.jp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548640" y="914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SHIRÁ</a:t>
            </a:r>
            <a:endParaRPr lang="en-US" sz="6000" dirty="0"/>
          </a:p>
        </p:txBody>
      </p:sp>
      <p:sp>
        <p:nvSpPr>
          <p:cNvPr id="3" name="Tagline"/>
          <p:cNvSpPr txBox="1"/>
          <p:nvPr/>
        </p:nvSpPr>
        <p:spPr>
          <a:xfrm>
            <a:off x="54864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D9B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natural juices</a:t>
            </a:r>
            <a:endParaRPr lang="en-US" sz="2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560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presentation for retail and sales partners</a:t>
            </a:r>
            <a:endParaRPr lang="en-US" sz="1600" dirty="0"/>
          </a:p>
        </p:txBody>
      </p:sp>
      <p:sp>
        <p:nvSpPr>
          <p:cNvPr id="5" name="Facts"/>
          <p:cNvSpPr txBox="1"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flavours  ·  500 ml glass bottle  ·  Not from concentrate</a:t>
            </a:r>
            <a:endParaRPr lang="en-US" sz="1200" dirty="0"/>
          </a:p>
        </p:txBody>
      </p:sp>
      <p:sp>
        <p:nvSpPr>
          <p:cNvPr id="6" name="Hero panel"/>
          <p:cNvSpPr/>
          <p:nvPr/>
        </p:nvSpPr>
        <p:spPr>
          <a:xfrm>
            <a:off x="5120640" y="502920"/>
            <a:ext cx="3611880" cy="411480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Hero 1" descr="SHIRÁ Peach juice bott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57800" y="640080"/>
            <a:ext cx="1078992" cy="3840480"/>
          </a:xfrm>
          <a:prstGeom prst="rect">
            <a:avLst/>
          </a:prstGeom>
        </p:spPr>
      </p:pic>
      <p:pic>
        <p:nvPicPr>
          <p:cNvPr id="8" name="Hero 3" descr="SHIRÁ Blackberry juice bott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73368" y="640080"/>
            <a:ext cx="1078992" cy="3840480"/>
          </a:xfrm>
          <a:prstGeom prst="rect">
            <a:avLst/>
          </a:prstGeom>
        </p:spPr>
      </p:pic>
      <p:pic>
        <p:nvPicPr>
          <p:cNvPr id="9" name="Hero 8" descr="SHIRÁ Plum juice bott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88936" y="640080"/>
            <a:ext cx="107899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flavours, one clean label</a:t>
            </a:r>
            <a:endParaRPr lang="en-US" sz="3600" dirty="0"/>
          </a:p>
        </p:txBody>
      </p:sp>
      <p:pic>
        <p:nvPicPr>
          <p:cNvPr id="3" name="Lineup Peach" descr="SHIRÁ Pea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822960" cy="1874520"/>
          </a:xfrm>
          <a:prstGeom prst="rect">
            <a:avLst/>
          </a:prstGeom>
        </p:spPr>
      </p:pic>
      <p:sp>
        <p:nvSpPr>
          <p:cNvPr id="4" name="Label Peach"/>
          <p:cNvSpPr txBox="1"/>
          <p:nvPr/>
        </p:nvSpPr>
        <p:spPr>
          <a:xfrm>
            <a:off x="41148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Peach</a:t>
            </a:r>
            <a:endParaRPr lang="en-US" sz="1000" dirty="0"/>
          </a:p>
        </p:txBody>
      </p:sp>
      <p:pic>
        <p:nvPicPr>
          <p:cNvPr id="5" name="Lineup Feijoa" descr="SHIRÁ Feijoa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0160" y="1051560"/>
            <a:ext cx="822960" cy="1874520"/>
          </a:xfrm>
          <a:prstGeom prst="rect">
            <a:avLst/>
          </a:prstGeom>
        </p:spPr>
      </p:pic>
      <p:sp>
        <p:nvSpPr>
          <p:cNvPr id="6" name="Label Feijoa"/>
          <p:cNvSpPr txBox="1"/>
          <p:nvPr/>
        </p:nvSpPr>
        <p:spPr>
          <a:xfrm>
            <a:off x="123444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Feijoa</a:t>
            </a:r>
            <a:endParaRPr lang="en-US" sz="1000" dirty="0"/>
          </a:p>
        </p:txBody>
      </p:sp>
      <p:pic>
        <p:nvPicPr>
          <p:cNvPr id="7" name="Lineup Blackberry" descr="SHIRÁ Blackberr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03120" y="1051560"/>
            <a:ext cx="822960" cy="1874520"/>
          </a:xfrm>
          <a:prstGeom prst="rect">
            <a:avLst/>
          </a:prstGeom>
        </p:spPr>
      </p:pic>
      <p:sp>
        <p:nvSpPr>
          <p:cNvPr id="8" name="Label Blackberry"/>
          <p:cNvSpPr txBox="1"/>
          <p:nvPr/>
        </p:nvSpPr>
        <p:spPr>
          <a:xfrm>
            <a:off x="205740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Blackberry</a:t>
            </a:r>
            <a:endParaRPr lang="en-US" sz="1000" dirty="0"/>
          </a:p>
        </p:txBody>
      </p:sp>
      <p:pic>
        <p:nvPicPr>
          <p:cNvPr id="9" name="Lineup Apple" descr="SHIRÁ App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926080" y="1051560"/>
            <a:ext cx="822960" cy="1874520"/>
          </a:xfrm>
          <a:prstGeom prst="rect">
            <a:avLst/>
          </a:prstGeom>
        </p:spPr>
      </p:pic>
      <p:sp>
        <p:nvSpPr>
          <p:cNvPr id="10" name="Label Apple"/>
          <p:cNvSpPr txBox="1"/>
          <p:nvPr/>
        </p:nvSpPr>
        <p:spPr>
          <a:xfrm>
            <a:off x="288036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000" dirty="0"/>
          </a:p>
        </p:txBody>
      </p:sp>
      <p:pic>
        <p:nvPicPr>
          <p:cNvPr id="11" name="Lineup Rosehip" descr="SHIRÁ Rosehip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749040" y="1051560"/>
            <a:ext cx="822960" cy="1874520"/>
          </a:xfrm>
          <a:prstGeom prst="rect">
            <a:avLst/>
          </a:prstGeom>
        </p:spPr>
      </p:pic>
      <p:sp>
        <p:nvSpPr>
          <p:cNvPr id="12" name="Label Rosehip"/>
          <p:cNvSpPr txBox="1"/>
          <p:nvPr/>
        </p:nvSpPr>
        <p:spPr>
          <a:xfrm>
            <a:off x="370332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Rosehip</a:t>
            </a:r>
            <a:endParaRPr lang="en-US" sz="1000" dirty="0"/>
          </a:p>
        </p:txBody>
      </p:sp>
      <p:pic>
        <p:nvPicPr>
          <p:cNvPr id="13" name="Lineup Pumpkin" descr="SHIRÁ Pumpkin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72000" y="1051560"/>
            <a:ext cx="822960" cy="1874520"/>
          </a:xfrm>
          <a:prstGeom prst="rect">
            <a:avLst/>
          </a:prstGeom>
        </p:spPr>
      </p:pic>
      <p:sp>
        <p:nvSpPr>
          <p:cNvPr id="14" name="Label Pumpkin"/>
          <p:cNvSpPr txBox="1"/>
          <p:nvPr/>
        </p:nvSpPr>
        <p:spPr>
          <a:xfrm>
            <a:off x="452628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5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Pumpkin</a:t>
            </a:r>
            <a:endParaRPr lang="en-US" sz="1000" dirty="0"/>
          </a:p>
        </p:txBody>
      </p:sp>
      <p:pic>
        <p:nvPicPr>
          <p:cNvPr id="15" name="Lineup Pear" descr="SHIRÁ Pea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394960" y="1051560"/>
            <a:ext cx="822960" cy="1874520"/>
          </a:xfrm>
          <a:prstGeom prst="rect">
            <a:avLst/>
          </a:prstGeom>
        </p:spPr>
      </p:pic>
      <p:sp>
        <p:nvSpPr>
          <p:cNvPr id="16" name="Label Pear"/>
          <p:cNvSpPr txBox="1"/>
          <p:nvPr/>
        </p:nvSpPr>
        <p:spPr>
          <a:xfrm>
            <a:off x="534924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8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</a:t>
            </a:r>
            <a:endParaRPr lang="en-US" sz="1000" dirty="0"/>
          </a:p>
        </p:txBody>
      </p:sp>
      <p:pic>
        <p:nvPicPr>
          <p:cNvPr id="17" name="Lineup Plum" descr="SHIRÁ Plum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217920" y="1051560"/>
            <a:ext cx="822960" cy="1874520"/>
          </a:xfrm>
          <a:prstGeom prst="rect">
            <a:avLst/>
          </a:prstGeom>
        </p:spPr>
      </p:pic>
      <p:sp>
        <p:nvSpPr>
          <p:cNvPr id="18" name="Label Plum"/>
          <p:cNvSpPr txBox="1"/>
          <p:nvPr/>
        </p:nvSpPr>
        <p:spPr>
          <a:xfrm>
            <a:off x="617220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</a:t>
            </a:r>
            <a:endParaRPr lang="en-US" sz="1000" dirty="0"/>
          </a:p>
        </p:txBody>
      </p:sp>
      <p:pic>
        <p:nvPicPr>
          <p:cNvPr id="19" name="Lineup Tomato" descr="SHIRÁ Tomato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040880" y="1051560"/>
            <a:ext cx="822960" cy="1874520"/>
          </a:xfrm>
          <a:prstGeom prst="rect">
            <a:avLst/>
          </a:prstGeom>
        </p:spPr>
      </p:pic>
      <p:sp>
        <p:nvSpPr>
          <p:cNvPr id="20" name="Label Tomato"/>
          <p:cNvSpPr txBox="1"/>
          <p:nvPr/>
        </p:nvSpPr>
        <p:spPr>
          <a:xfrm>
            <a:off x="699516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2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</a:t>
            </a:r>
            <a:endParaRPr lang="en-US" sz="1000" dirty="0"/>
          </a:p>
        </p:txBody>
      </p:sp>
      <p:pic>
        <p:nvPicPr>
          <p:cNvPr id="21" name="Lineup Red Currant" descr="SHIRÁ Red Currant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863840" y="1051560"/>
            <a:ext cx="822960" cy="1874520"/>
          </a:xfrm>
          <a:prstGeom prst="rect">
            <a:avLst/>
          </a:prstGeom>
        </p:spPr>
      </p:pic>
      <p:sp>
        <p:nvSpPr>
          <p:cNvPr id="22" name="Label Red Currant"/>
          <p:cNvSpPr txBox="1"/>
          <p:nvPr/>
        </p:nvSpPr>
        <p:spPr>
          <a:xfrm>
            <a:off x="7818120" y="29718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Currant</a:t>
            </a:r>
            <a:endParaRPr lang="en-US" sz="1000" dirty="0"/>
          </a:p>
        </p:txBody>
      </p:sp>
      <p:sp>
        <p:nvSpPr>
          <p:cNvPr id="23" name="Claim card 1"/>
          <p:cNvSpPr/>
          <p:nvPr/>
        </p:nvSpPr>
        <p:spPr>
          <a:xfrm>
            <a:off x="457200" y="3520440"/>
            <a:ext cx="19202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Claim text 1"/>
          <p:cNvSpPr txBox="1"/>
          <p:nvPr/>
        </p:nvSpPr>
        <p:spPr>
          <a:xfrm>
            <a:off x="594360" y="3611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natural juice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in the bottle</a:t>
            </a:r>
            <a:endParaRPr lang="en-US" sz="1400" dirty="0"/>
          </a:p>
        </p:txBody>
      </p:sp>
      <p:sp>
        <p:nvSpPr>
          <p:cNvPr id="25" name="Claim card 2"/>
          <p:cNvSpPr/>
          <p:nvPr/>
        </p:nvSpPr>
        <p:spPr>
          <a:xfrm>
            <a:off x="2542032" y="3520440"/>
            <a:ext cx="19202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Claim text 2"/>
          <p:cNvSpPr txBox="1"/>
          <p:nvPr/>
        </p:nvSpPr>
        <p:spPr>
          <a:xfrm>
            <a:off x="2679192" y="3611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from concentrate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from sun-ripened fruit</a:t>
            </a:r>
            <a:endParaRPr lang="en-US" sz="1400" dirty="0"/>
          </a:p>
        </p:txBody>
      </p:sp>
      <p:sp>
        <p:nvSpPr>
          <p:cNvPr id="27" name="Claim card 3"/>
          <p:cNvSpPr/>
          <p:nvPr/>
        </p:nvSpPr>
        <p:spPr>
          <a:xfrm>
            <a:off x="4626864" y="3520440"/>
            <a:ext cx="19202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Claim text 3"/>
          <p:cNvSpPr txBox="1"/>
          <p:nvPr/>
        </p:nvSpPr>
        <p:spPr>
          <a:xfrm>
            <a:off x="4764024" y="3611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added sugar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preservatives</a:t>
            </a:r>
            <a:endParaRPr lang="en-US" sz="1400" dirty="0"/>
          </a:p>
        </p:txBody>
      </p:sp>
      <p:sp>
        <p:nvSpPr>
          <p:cNvPr id="29" name="Claim card 4"/>
          <p:cNvSpPr/>
          <p:nvPr/>
        </p:nvSpPr>
        <p:spPr>
          <a:xfrm>
            <a:off x="6711696" y="3520440"/>
            <a:ext cx="192024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laim text 4"/>
          <p:cNvSpPr txBox="1"/>
          <p:nvPr/>
        </p:nvSpPr>
        <p:spPr>
          <a:xfrm>
            <a:off x="6848856" y="3611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ml glass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 packaging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365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SHIRÁ  ·  500 ml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685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Peach</a:t>
            </a:r>
            <a:endParaRPr lang="en-US" sz="4400" dirty="0"/>
          </a:p>
        </p:txBody>
      </p:sp>
      <p:sp>
        <p:nvSpPr>
          <p:cNvPr id="4" name="Taste"/>
          <p:cNvSpPr txBox="1"/>
          <p:nvPr/>
        </p:nvSpPr>
        <p:spPr>
          <a:xfrm>
            <a:off x="45720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naturally sweet taste of real peaches in every sip.</a:t>
            </a:r>
            <a:endParaRPr lang="en-US" sz="1600" dirty="0"/>
          </a:p>
        </p:txBody>
      </p:sp>
      <p:sp>
        <p:nvSpPr>
          <p:cNvPr id="5" name="Per 100 ml"/>
          <p:cNvSpPr txBox="1"/>
          <p:nvPr/>
        </p:nvSpPr>
        <p:spPr>
          <a:xfrm>
            <a:off x="45720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6" name="Stat kcal"/>
          <p:cNvSpPr txBox="1"/>
          <p:nvPr/>
        </p:nvSpPr>
        <p:spPr>
          <a:xfrm>
            <a:off x="45720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800" dirty="0"/>
          </a:p>
        </p:txBody>
      </p:sp>
      <p:sp>
        <p:nvSpPr>
          <p:cNvPr id="7" name="Stat label kcal"/>
          <p:cNvSpPr txBox="1"/>
          <p:nvPr/>
        </p:nvSpPr>
        <p:spPr>
          <a:xfrm>
            <a:off x="45720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8" name="Stat sugars"/>
          <p:cNvSpPr txBox="1"/>
          <p:nvPr/>
        </p:nvSpPr>
        <p:spPr>
          <a:xfrm>
            <a:off x="155448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 g</a:t>
            </a:r>
            <a:endParaRPr lang="en-US" sz="2800" dirty="0"/>
          </a:p>
        </p:txBody>
      </p:sp>
      <p:sp>
        <p:nvSpPr>
          <p:cNvPr id="9" name="Stat label sugars"/>
          <p:cNvSpPr txBox="1"/>
          <p:nvPr/>
        </p:nvSpPr>
        <p:spPr>
          <a:xfrm>
            <a:off x="155448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0" name="Stat protein"/>
          <p:cNvSpPr txBox="1"/>
          <p:nvPr/>
        </p:nvSpPr>
        <p:spPr>
          <a:xfrm>
            <a:off x="265176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 g</a:t>
            </a:r>
            <a:endParaRPr lang="en-US" sz="2800" dirty="0"/>
          </a:p>
        </p:txBody>
      </p:sp>
      <p:sp>
        <p:nvSpPr>
          <p:cNvPr id="11" name="Stat label protein"/>
          <p:cNvSpPr txBox="1"/>
          <p:nvPr/>
        </p:nvSpPr>
        <p:spPr>
          <a:xfrm>
            <a:off x="265176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2" name="Nutrition detail"/>
          <p:cNvSpPr txBox="1"/>
          <p:nvPr/>
        </p:nvSpPr>
        <p:spPr>
          <a:xfrm>
            <a:off x="4572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178 kJ  ·  Fat 0 g  ·  Carbohydrate 9.8 g  ·  Salt 0 g</a:t>
            </a:r>
            <a:endParaRPr lang="en-US" sz="1100" dirty="0"/>
          </a:p>
        </p:txBody>
      </p:sp>
      <p:sp>
        <p:nvSpPr>
          <p:cNvPr id="13" name="Claims"/>
          <p:cNvSpPr txBox="1"/>
          <p:nvPr/>
        </p:nvSpPr>
        <p:spPr>
          <a:xfrm>
            <a:off x="45720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natural  ·  Not from concentrate  ·  No added sugar</a:t>
            </a:r>
            <a:endParaRPr lang="en-US" sz="1000" dirty="0"/>
          </a:p>
        </p:txBody>
      </p:sp>
      <p:pic>
        <p:nvPicPr>
          <p:cNvPr id="14" name="Front" descr="SHIRÁ Peach front of bot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2494483" cy="4023360"/>
          </a:xfrm>
          <a:prstGeom prst="rect">
            <a:avLst/>
          </a:prstGeom>
        </p:spPr>
      </p:pic>
      <p:pic>
        <p:nvPicPr>
          <p:cNvPr id="15" name="Back" descr="SHIRÁ Peach back of bottle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457200"/>
            <a:ext cx="2494483" cy="4023360"/>
          </a:xfrm>
          <a:prstGeom prst="rect">
            <a:avLst/>
          </a:prstGeom>
        </p:spPr>
      </p:pic>
      <p:sp>
        <p:nvSpPr>
          <p:cNvPr id="16" name="Front caption"/>
          <p:cNvSpPr txBox="1"/>
          <p:nvPr/>
        </p:nvSpPr>
        <p:spPr>
          <a:xfrm>
            <a:off x="3931920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00" dirty="0"/>
          </a:p>
        </p:txBody>
      </p:sp>
      <p:sp>
        <p:nvSpPr>
          <p:cNvPr id="17" name="Back caption"/>
          <p:cNvSpPr txBox="1"/>
          <p:nvPr/>
        </p:nvSpPr>
        <p:spPr>
          <a:xfrm>
            <a:off x="6563563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365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SHIRÁ  ·  500 ml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685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7F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Feijoa</a:t>
            </a:r>
            <a:endParaRPr lang="en-US" sz="4400" dirty="0"/>
          </a:p>
        </p:txBody>
      </p:sp>
      <p:sp>
        <p:nvSpPr>
          <p:cNvPr id="4" name="Taste"/>
          <p:cNvSpPr txBox="1"/>
          <p:nvPr/>
        </p:nvSpPr>
        <p:spPr>
          <a:xfrm>
            <a:off x="45720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unique, refreshing taste of real feijoa in every sip.</a:t>
            </a:r>
            <a:endParaRPr lang="en-US" sz="1600" dirty="0"/>
          </a:p>
        </p:txBody>
      </p:sp>
      <p:sp>
        <p:nvSpPr>
          <p:cNvPr id="5" name="Per 100 ml"/>
          <p:cNvSpPr txBox="1"/>
          <p:nvPr/>
        </p:nvSpPr>
        <p:spPr>
          <a:xfrm>
            <a:off x="45720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6" name="Stat kcal"/>
          <p:cNvSpPr txBox="1"/>
          <p:nvPr/>
        </p:nvSpPr>
        <p:spPr>
          <a:xfrm>
            <a:off x="45720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2800" dirty="0"/>
          </a:p>
        </p:txBody>
      </p:sp>
      <p:sp>
        <p:nvSpPr>
          <p:cNvPr id="7" name="Stat label kcal"/>
          <p:cNvSpPr txBox="1"/>
          <p:nvPr/>
        </p:nvSpPr>
        <p:spPr>
          <a:xfrm>
            <a:off x="45720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8" name="Stat sugars"/>
          <p:cNvSpPr txBox="1"/>
          <p:nvPr/>
        </p:nvSpPr>
        <p:spPr>
          <a:xfrm>
            <a:off x="155448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 g</a:t>
            </a:r>
            <a:endParaRPr lang="en-US" sz="2800" dirty="0"/>
          </a:p>
        </p:txBody>
      </p:sp>
      <p:sp>
        <p:nvSpPr>
          <p:cNvPr id="9" name="Stat label sugars"/>
          <p:cNvSpPr txBox="1"/>
          <p:nvPr/>
        </p:nvSpPr>
        <p:spPr>
          <a:xfrm>
            <a:off x="155448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0" name="Stat protein"/>
          <p:cNvSpPr txBox="1"/>
          <p:nvPr/>
        </p:nvSpPr>
        <p:spPr>
          <a:xfrm>
            <a:off x="265176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F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 g</a:t>
            </a:r>
            <a:endParaRPr lang="en-US" sz="2800" dirty="0"/>
          </a:p>
        </p:txBody>
      </p:sp>
      <p:sp>
        <p:nvSpPr>
          <p:cNvPr id="11" name="Stat label protein"/>
          <p:cNvSpPr txBox="1"/>
          <p:nvPr/>
        </p:nvSpPr>
        <p:spPr>
          <a:xfrm>
            <a:off x="265176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2" name="Nutrition detail"/>
          <p:cNvSpPr txBox="1"/>
          <p:nvPr/>
        </p:nvSpPr>
        <p:spPr>
          <a:xfrm>
            <a:off x="4572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186 kJ  ·  Fat 0 g  ·  Carbohydrate 10.8 g  ·  Salt 0 g</a:t>
            </a:r>
            <a:endParaRPr lang="en-US" sz="1100" dirty="0"/>
          </a:p>
        </p:txBody>
      </p:sp>
      <p:sp>
        <p:nvSpPr>
          <p:cNvPr id="13" name="Claims"/>
          <p:cNvSpPr txBox="1"/>
          <p:nvPr/>
        </p:nvSpPr>
        <p:spPr>
          <a:xfrm>
            <a:off x="45720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natural  ·  Not from concentrate  ·  No added sugar</a:t>
            </a:r>
            <a:endParaRPr lang="en-US" sz="1000" dirty="0"/>
          </a:p>
        </p:txBody>
      </p:sp>
      <p:pic>
        <p:nvPicPr>
          <p:cNvPr id="14" name="Front" descr="SHIRÁ Feijoa front of bot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2494483" cy="4023360"/>
          </a:xfrm>
          <a:prstGeom prst="rect">
            <a:avLst/>
          </a:prstGeom>
        </p:spPr>
      </p:pic>
      <p:pic>
        <p:nvPicPr>
          <p:cNvPr id="15" name="Back" descr="SHIRÁ Feijoa back of bottle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457200"/>
            <a:ext cx="2494483" cy="4023360"/>
          </a:xfrm>
          <a:prstGeom prst="rect">
            <a:avLst/>
          </a:prstGeom>
        </p:spPr>
      </p:pic>
      <p:sp>
        <p:nvSpPr>
          <p:cNvPr id="16" name="Front caption"/>
          <p:cNvSpPr txBox="1"/>
          <p:nvPr/>
        </p:nvSpPr>
        <p:spPr>
          <a:xfrm>
            <a:off x="3931920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00" dirty="0"/>
          </a:p>
        </p:txBody>
      </p:sp>
      <p:sp>
        <p:nvSpPr>
          <p:cNvPr id="17" name="Back caption"/>
          <p:cNvSpPr txBox="1"/>
          <p:nvPr/>
        </p:nvSpPr>
        <p:spPr>
          <a:xfrm>
            <a:off x="6563563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365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SHIRÁ  ·  500 ml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685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B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Blackberry</a:t>
            </a:r>
            <a:endParaRPr lang="en-US" sz="3600" dirty="0"/>
          </a:p>
        </p:txBody>
      </p:sp>
      <p:sp>
        <p:nvSpPr>
          <p:cNvPr id="4" name="Taste"/>
          <p:cNvSpPr txBox="1"/>
          <p:nvPr/>
        </p:nvSpPr>
        <p:spPr>
          <a:xfrm>
            <a:off x="45720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bold and refreshing taste of real blackberries.</a:t>
            </a:r>
            <a:endParaRPr lang="en-US" sz="1600" dirty="0"/>
          </a:p>
        </p:txBody>
      </p:sp>
      <p:sp>
        <p:nvSpPr>
          <p:cNvPr id="5" name="Per 100 ml"/>
          <p:cNvSpPr txBox="1"/>
          <p:nvPr/>
        </p:nvSpPr>
        <p:spPr>
          <a:xfrm>
            <a:off x="45720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6" name="Stat kcal"/>
          <p:cNvSpPr txBox="1"/>
          <p:nvPr/>
        </p:nvSpPr>
        <p:spPr>
          <a:xfrm>
            <a:off x="45720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2800" dirty="0"/>
          </a:p>
        </p:txBody>
      </p:sp>
      <p:sp>
        <p:nvSpPr>
          <p:cNvPr id="7" name="Stat label kcal"/>
          <p:cNvSpPr txBox="1"/>
          <p:nvPr/>
        </p:nvSpPr>
        <p:spPr>
          <a:xfrm>
            <a:off x="45720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8" name="Stat sugars"/>
          <p:cNvSpPr txBox="1"/>
          <p:nvPr/>
        </p:nvSpPr>
        <p:spPr>
          <a:xfrm>
            <a:off x="155448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 g</a:t>
            </a:r>
            <a:endParaRPr lang="en-US" sz="2800" dirty="0"/>
          </a:p>
        </p:txBody>
      </p:sp>
      <p:sp>
        <p:nvSpPr>
          <p:cNvPr id="9" name="Stat label sugars"/>
          <p:cNvSpPr txBox="1"/>
          <p:nvPr/>
        </p:nvSpPr>
        <p:spPr>
          <a:xfrm>
            <a:off x="155448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0" name="Stat protein"/>
          <p:cNvSpPr txBox="1"/>
          <p:nvPr/>
        </p:nvSpPr>
        <p:spPr>
          <a:xfrm>
            <a:off x="265176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 g</a:t>
            </a:r>
            <a:endParaRPr lang="en-US" sz="2800" dirty="0"/>
          </a:p>
        </p:txBody>
      </p:sp>
      <p:sp>
        <p:nvSpPr>
          <p:cNvPr id="11" name="Stat label protein"/>
          <p:cNvSpPr txBox="1"/>
          <p:nvPr/>
        </p:nvSpPr>
        <p:spPr>
          <a:xfrm>
            <a:off x="265176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2" name="Nutrition detail"/>
          <p:cNvSpPr txBox="1"/>
          <p:nvPr/>
        </p:nvSpPr>
        <p:spPr>
          <a:xfrm>
            <a:off x="4572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182 kJ  ·  Fat 0 g  ·  Carbohydrate 10.2 g  ·  Salt 0 g</a:t>
            </a:r>
            <a:endParaRPr lang="en-US" sz="1100" dirty="0"/>
          </a:p>
        </p:txBody>
      </p:sp>
      <p:sp>
        <p:nvSpPr>
          <p:cNvPr id="13" name="Claims"/>
          <p:cNvSpPr txBox="1"/>
          <p:nvPr/>
        </p:nvSpPr>
        <p:spPr>
          <a:xfrm>
            <a:off x="45720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natural  ·  Not from concentrate  ·  No added sugar</a:t>
            </a:r>
            <a:endParaRPr lang="en-US" sz="1000" dirty="0"/>
          </a:p>
        </p:txBody>
      </p:sp>
      <p:pic>
        <p:nvPicPr>
          <p:cNvPr id="14" name="Front" descr="SHIRÁ Blackberry front of bot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2494483" cy="4023360"/>
          </a:xfrm>
          <a:prstGeom prst="rect">
            <a:avLst/>
          </a:prstGeom>
        </p:spPr>
      </p:pic>
      <p:pic>
        <p:nvPicPr>
          <p:cNvPr id="15" name="Back" descr="SHIRÁ Blackberry back of bottle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457200"/>
            <a:ext cx="2494483" cy="4023360"/>
          </a:xfrm>
          <a:prstGeom prst="rect">
            <a:avLst/>
          </a:prstGeom>
        </p:spPr>
      </p:pic>
      <p:sp>
        <p:nvSpPr>
          <p:cNvPr id="16" name="Front caption"/>
          <p:cNvSpPr txBox="1"/>
          <p:nvPr/>
        </p:nvSpPr>
        <p:spPr>
          <a:xfrm>
            <a:off x="3931920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00" dirty="0"/>
          </a:p>
        </p:txBody>
      </p:sp>
      <p:sp>
        <p:nvSpPr>
          <p:cNvPr id="17" name="Back caption"/>
          <p:cNvSpPr txBox="1"/>
          <p:nvPr/>
        </p:nvSpPr>
        <p:spPr>
          <a:xfrm>
            <a:off x="6563563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365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SHIRÁ  ·  500 ml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685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Apple</a:t>
            </a:r>
            <a:endParaRPr lang="en-US" sz="4400" dirty="0"/>
          </a:p>
        </p:txBody>
      </p:sp>
      <p:sp>
        <p:nvSpPr>
          <p:cNvPr id="4" name="Taste"/>
          <p:cNvSpPr txBox="1"/>
          <p:nvPr/>
        </p:nvSpPr>
        <p:spPr>
          <a:xfrm>
            <a:off x="45720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Crisp, refreshing taste of real apples in every sip.</a:t>
            </a:r>
            <a:endParaRPr lang="en-US" sz="1600" dirty="0"/>
          </a:p>
        </p:txBody>
      </p:sp>
      <p:sp>
        <p:nvSpPr>
          <p:cNvPr id="5" name="Per 100 ml"/>
          <p:cNvSpPr txBox="1"/>
          <p:nvPr/>
        </p:nvSpPr>
        <p:spPr>
          <a:xfrm>
            <a:off x="45720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6" name="Stat kcal"/>
          <p:cNvSpPr txBox="1"/>
          <p:nvPr/>
        </p:nvSpPr>
        <p:spPr>
          <a:xfrm>
            <a:off x="45720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2800" dirty="0"/>
          </a:p>
        </p:txBody>
      </p:sp>
      <p:sp>
        <p:nvSpPr>
          <p:cNvPr id="7" name="Stat label kcal"/>
          <p:cNvSpPr txBox="1"/>
          <p:nvPr/>
        </p:nvSpPr>
        <p:spPr>
          <a:xfrm>
            <a:off x="45720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8" name="Stat sugars"/>
          <p:cNvSpPr txBox="1"/>
          <p:nvPr/>
        </p:nvSpPr>
        <p:spPr>
          <a:xfrm>
            <a:off x="155448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10.4 g</a:t>
            </a:r>
            <a:endParaRPr lang="en-US" sz="2800" dirty="0"/>
          </a:p>
        </p:txBody>
      </p:sp>
      <p:sp>
        <p:nvSpPr>
          <p:cNvPr id="9" name="Stat label sugars"/>
          <p:cNvSpPr txBox="1"/>
          <p:nvPr/>
        </p:nvSpPr>
        <p:spPr>
          <a:xfrm>
            <a:off x="155448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0" name="Stat protein"/>
          <p:cNvSpPr txBox="1"/>
          <p:nvPr/>
        </p:nvSpPr>
        <p:spPr>
          <a:xfrm>
            <a:off x="265176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g</a:t>
            </a:r>
            <a:endParaRPr lang="en-US" sz="2800" dirty="0"/>
          </a:p>
        </p:txBody>
      </p:sp>
      <p:sp>
        <p:nvSpPr>
          <p:cNvPr id="11" name="Stat label protein"/>
          <p:cNvSpPr txBox="1"/>
          <p:nvPr/>
        </p:nvSpPr>
        <p:spPr>
          <a:xfrm>
            <a:off x="265176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2" name="Nutrition detail"/>
          <p:cNvSpPr txBox="1"/>
          <p:nvPr/>
        </p:nvSpPr>
        <p:spPr>
          <a:xfrm>
            <a:off x="4572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184 kJ  ·  Fat 0 g  ·  Carbohydrate 10.4 g  ·  Salt 0 g</a:t>
            </a:r>
            <a:endParaRPr lang="en-US" sz="1100" dirty="0"/>
          </a:p>
        </p:txBody>
      </p:sp>
      <p:sp>
        <p:nvSpPr>
          <p:cNvPr id="13" name="Claims"/>
          <p:cNvSpPr txBox="1"/>
          <p:nvPr/>
        </p:nvSpPr>
        <p:spPr>
          <a:xfrm>
            <a:off x="45720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natural  ·  Not from concentrate  ·  No added sugar</a:t>
            </a:r>
            <a:endParaRPr lang="en-US" sz="1000" dirty="0"/>
          </a:p>
        </p:txBody>
      </p:sp>
      <p:pic>
        <p:nvPicPr>
          <p:cNvPr id="14" name="Front" descr="SHIRÁ Apple front of bot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2494483" cy="4023360"/>
          </a:xfrm>
          <a:prstGeom prst="rect">
            <a:avLst/>
          </a:prstGeom>
        </p:spPr>
      </p:pic>
      <p:pic>
        <p:nvPicPr>
          <p:cNvPr id="15" name="Back" descr="SHIRÁ Apple back of bottle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457200"/>
            <a:ext cx="2494483" cy="4023360"/>
          </a:xfrm>
          <a:prstGeom prst="rect">
            <a:avLst/>
          </a:prstGeom>
        </p:spPr>
      </p:pic>
      <p:sp>
        <p:nvSpPr>
          <p:cNvPr id="16" name="Front caption"/>
          <p:cNvSpPr txBox="1"/>
          <p:nvPr/>
        </p:nvSpPr>
        <p:spPr>
          <a:xfrm>
            <a:off x="3931920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00" dirty="0"/>
          </a:p>
        </p:txBody>
      </p:sp>
      <p:sp>
        <p:nvSpPr>
          <p:cNvPr id="17" name="Back caption"/>
          <p:cNvSpPr txBox="1"/>
          <p:nvPr/>
        </p:nvSpPr>
        <p:spPr>
          <a:xfrm>
            <a:off x="6563563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365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SHIRÁ  ·  500 ml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685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Rosehip</a:t>
            </a:r>
            <a:endParaRPr lang="en-US" sz="4400" dirty="0"/>
          </a:p>
        </p:txBody>
      </p:sp>
      <p:sp>
        <p:nvSpPr>
          <p:cNvPr id="4" name="Taste"/>
          <p:cNvSpPr txBox="1"/>
          <p:nvPr/>
        </p:nvSpPr>
        <p:spPr>
          <a:xfrm>
            <a:off x="45720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Vibrant, naturally tangy taste of real rosehips.</a:t>
            </a:r>
            <a:endParaRPr lang="en-US" sz="1600" dirty="0"/>
          </a:p>
        </p:txBody>
      </p:sp>
      <p:sp>
        <p:nvSpPr>
          <p:cNvPr id="5" name="Per 100 ml"/>
          <p:cNvSpPr txBox="1"/>
          <p:nvPr/>
        </p:nvSpPr>
        <p:spPr>
          <a:xfrm>
            <a:off x="45720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6" name="Stat kcal"/>
          <p:cNvSpPr txBox="1"/>
          <p:nvPr/>
        </p:nvSpPr>
        <p:spPr>
          <a:xfrm>
            <a:off x="45720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2800" dirty="0"/>
          </a:p>
        </p:txBody>
      </p:sp>
      <p:sp>
        <p:nvSpPr>
          <p:cNvPr id="7" name="Stat label kcal"/>
          <p:cNvSpPr txBox="1"/>
          <p:nvPr/>
        </p:nvSpPr>
        <p:spPr>
          <a:xfrm>
            <a:off x="45720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8" name="Stat sugars"/>
          <p:cNvSpPr txBox="1"/>
          <p:nvPr/>
        </p:nvSpPr>
        <p:spPr>
          <a:xfrm>
            <a:off x="155448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 g</a:t>
            </a:r>
            <a:endParaRPr lang="en-US" sz="2800" dirty="0"/>
          </a:p>
        </p:txBody>
      </p:sp>
      <p:sp>
        <p:nvSpPr>
          <p:cNvPr id="9" name="Stat label sugars"/>
          <p:cNvSpPr txBox="1"/>
          <p:nvPr/>
        </p:nvSpPr>
        <p:spPr>
          <a:xfrm>
            <a:off x="155448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0" name="Stat protein"/>
          <p:cNvSpPr txBox="1"/>
          <p:nvPr/>
        </p:nvSpPr>
        <p:spPr>
          <a:xfrm>
            <a:off x="265176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 g</a:t>
            </a:r>
            <a:endParaRPr lang="en-US" sz="2800" dirty="0"/>
          </a:p>
        </p:txBody>
      </p:sp>
      <p:sp>
        <p:nvSpPr>
          <p:cNvPr id="11" name="Stat label protein"/>
          <p:cNvSpPr txBox="1"/>
          <p:nvPr/>
        </p:nvSpPr>
        <p:spPr>
          <a:xfrm>
            <a:off x="265176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2" name="Nutrition detail"/>
          <p:cNvSpPr txBox="1"/>
          <p:nvPr/>
        </p:nvSpPr>
        <p:spPr>
          <a:xfrm>
            <a:off x="4572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176 kJ  ·  Fat 0 g  ·  Carbohydrate 9.8 g  ·  Salt 0 g</a:t>
            </a:r>
            <a:endParaRPr lang="en-US" sz="1100" dirty="0"/>
          </a:p>
        </p:txBody>
      </p:sp>
      <p:sp>
        <p:nvSpPr>
          <p:cNvPr id="13" name="Claims"/>
          <p:cNvSpPr txBox="1"/>
          <p:nvPr/>
        </p:nvSpPr>
        <p:spPr>
          <a:xfrm>
            <a:off x="45720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natural  ·  Not from concentrate  ·  No added sugar</a:t>
            </a:r>
            <a:endParaRPr lang="en-US" sz="1000" dirty="0"/>
          </a:p>
        </p:txBody>
      </p:sp>
      <p:pic>
        <p:nvPicPr>
          <p:cNvPr id="14" name="Front" descr="SHIRÁ Rosehip front of bot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2494483" cy="4023360"/>
          </a:xfrm>
          <a:prstGeom prst="rect">
            <a:avLst/>
          </a:prstGeom>
        </p:spPr>
      </p:pic>
      <p:pic>
        <p:nvPicPr>
          <p:cNvPr id="15" name="Back" descr="SHIRÁ Rosehip back of bottle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457200"/>
            <a:ext cx="2494483" cy="4023360"/>
          </a:xfrm>
          <a:prstGeom prst="rect">
            <a:avLst/>
          </a:prstGeom>
        </p:spPr>
      </p:pic>
      <p:sp>
        <p:nvSpPr>
          <p:cNvPr id="16" name="Front caption"/>
          <p:cNvSpPr txBox="1"/>
          <p:nvPr/>
        </p:nvSpPr>
        <p:spPr>
          <a:xfrm>
            <a:off x="3931920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00" dirty="0"/>
          </a:p>
        </p:txBody>
      </p:sp>
      <p:sp>
        <p:nvSpPr>
          <p:cNvPr id="17" name="Back caption"/>
          <p:cNvSpPr txBox="1"/>
          <p:nvPr/>
        </p:nvSpPr>
        <p:spPr>
          <a:xfrm>
            <a:off x="6563563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365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SHIRÁ  ·  500 ml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685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F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Pumpkin</a:t>
            </a:r>
            <a:endParaRPr lang="en-US" sz="4400" dirty="0"/>
          </a:p>
        </p:txBody>
      </p:sp>
      <p:sp>
        <p:nvSpPr>
          <p:cNvPr id="4" name="Taste"/>
          <p:cNvSpPr txBox="1"/>
          <p:nvPr/>
        </p:nvSpPr>
        <p:spPr>
          <a:xfrm>
            <a:off x="45720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naturally sweet taste of real pumpkin in every sip.</a:t>
            </a:r>
            <a:endParaRPr lang="en-US" sz="1600" dirty="0"/>
          </a:p>
        </p:txBody>
      </p:sp>
      <p:sp>
        <p:nvSpPr>
          <p:cNvPr id="5" name="Per 100 ml"/>
          <p:cNvSpPr txBox="1"/>
          <p:nvPr/>
        </p:nvSpPr>
        <p:spPr>
          <a:xfrm>
            <a:off x="45720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6" name="Stat kcal"/>
          <p:cNvSpPr txBox="1"/>
          <p:nvPr/>
        </p:nvSpPr>
        <p:spPr>
          <a:xfrm>
            <a:off x="45720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F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2800" dirty="0"/>
          </a:p>
        </p:txBody>
      </p:sp>
      <p:sp>
        <p:nvSpPr>
          <p:cNvPr id="7" name="Stat label kcal"/>
          <p:cNvSpPr txBox="1"/>
          <p:nvPr/>
        </p:nvSpPr>
        <p:spPr>
          <a:xfrm>
            <a:off x="45720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8" name="Stat sugars"/>
          <p:cNvSpPr txBox="1"/>
          <p:nvPr/>
        </p:nvSpPr>
        <p:spPr>
          <a:xfrm>
            <a:off x="155448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F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 g</a:t>
            </a:r>
            <a:endParaRPr lang="en-US" sz="2800" dirty="0"/>
          </a:p>
        </p:txBody>
      </p:sp>
      <p:sp>
        <p:nvSpPr>
          <p:cNvPr id="9" name="Stat label sugars"/>
          <p:cNvSpPr txBox="1"/>
          <p:nvPr/>
        </p:nvSpPr>
        <p:spPr>
          <a:xfrm>
            <a:off x="155448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0" name="Stat protein"/>
          <p:cNvSpPr txBox="1"/>
          <p:nvPr/>
        </p:nvSpPr>
        <p:spPr>
          <a:xfrm>
            <a:off x="265176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F5A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 g</a:t>
            </a:r>
            <a:endParaRPr lang="en-US" sz="2800" dirty="0"/>
          </a:p>
        </p:txBody>
      </p:sp>
      <p:sp>
        <p:nvSpPr>
          <p:cNvPr id="11" name="Stat label protein"/>
          <p:cNvSpPr txBox="1"/>
          <p:nvPr/>
        </p:nvSpPr>
        <p:spPr>
          <a:xfrm>
            <a:off x="265176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2" name="Nutrition detail"/>
          <p:cNvSpPr txBox="1"/>
          <p:nvPr/>
        </p:nvSpPr>
        <p:spPr>
          <a:xfrm>
            <a:off x="4572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153 kJ  ·  Fat 0 g  ·  Carbohydrate 8.3 g  ·  Salt 0 g</a:t>
            </a:r>
            <a:endParaRPr lang="en-US" sz="1100" dirty="0"/>
          </a:p>
        </p:txBody>
      </p:sp>
      <p:sp>
        <p:nvSpPr>
          <p:cNvPr id="13" name="Claims"/>
          <p:cNvSpPr txBox="1"/>
          <p:nvPr/>
        </p:nvSpPr>
        <p:spPr>
          <a:xfrm>
            <a:off x="45720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natural  ·  Not from concentrate  ·  No added sugar</a:t>
            </a:r>
            <a:endParaRPr lang="en-US" sz="1000" dirty="0"/>
          </a:p>
        </p:txBody>
      </p:sp>
      <p:pic>
        <p:nvPicPr>
          <p:cNvPr id="14" name="Front" descr="SHIRÁ Pumpkin front of bot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2494483" cy="4023360"/>
          </a:xfrm>
          <a:prstGeom prst="rect">
            <a:avLst/>
          </a:prstGeom>
        </p:spPr>
      </p:pic>
      <p:pic>
        <p:nvPicPr>
          <p:cNvPr id="15" name="Back" descr="SHIRÁ Pumpkin back of bottle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457200"/>
            <a:ext cx="2494483" cy="4023360"/>
          </a:xfrm>
          <a:prstGeom prst="rect">
            <a:avLst/>
          </a:prstGeom>
        </p:spPr>
      </p:pic>
      <p:sp>
        <p:nvSpPr>
          <p:cNvPr id="16" name="Front caption"/>
          <p:cNvSpPr txBox="1"/>
          <p:nvPr/>
        </p:nvSpPr>
        <p:spPr>
          <a:xfrm>
            <a:off x="3931920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00" dirty="0"/>
          </a:p>
        </p:txBody>
      </p:sp>
      <p:sp>
        <p:nvSpPr>
          <p:cNvPr id="17" name="Back caption"/>
          <p:cNvSpPr txBox="1"/>
          <p:nvPr/>
        </p:nvSpPr>
        <p:spPr>
          <a:xfrm>
            <a:off x="6563563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365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SHIRÁ  ·  500 ml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685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8C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</a:t>
            </a:r>
            <a:endParaRPr lang="en-US" sz="4400" dirty="0"/>
          </a:p>
        </p:txBody>
      </p:sp>
      <p:sp>
        <p:nvSpPr>
          <p:cNvPr id="4" name="Taste"/>
          <p:cNvSpPr txBox="1"/>
          <p:nvPr/>
        </p:nvSpPr>
        <p:spPr>
          <a:xfrm>
            <a:off x="45720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Crisp, refreshing taste of real pears in every sip.</a:t>
            </a:r>
            <a:endParaRPr lang="en-US" sz="1600" dirty="0"/>
          </a:p>
        </p:txBody>
      </p:sp>
      <p:sp>
        <p:nvSpPr>
          <p:cNvPr id="5" name="Per 100 ml"/>
          <p:cNvSpPr txBox="1"/>
          <p:nvPr/>
        </p:nvSpPr>
        <p:spPr>
          <a:xfrm>
            <a:off x="45720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6" name="Stat kcal"/>
          <p:cNvSpPr txBox="1"/>
          <p:nvPr/>
        </p:nvSpPr>
        <p:spPr>
          <a:xfrm>
            <a:off x="45720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2800" dirty="0"/>
          </a:p>
        </p:txBody>
      </p:sp>
      <p:sp>
        <p:nvSpPr>
          <p:cNvPr id="7" name="Stat label kcal"/>
          <p:cNvSpPr txBox="1"/>
          <p:nvPr/>
        </p:nvSpPr>
        <p:spPr>
          <a:xfrm>
            <a:off x="45720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8" name="Stat sugars"/>
          <p:cNvSpPr txBox="1"/>
          <p:nvPr/>
        </p:nvSpPr>
        <p:spPr>
          <a:xfrm>
            <a:off x="155448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10.6 g</a:t>
            </a:r>
            <a:endParaRPr lang="en-US" sz="2800" dirty="0"/>
          </a:p>
        </p:txBody>
      </p:sp>
      <p:sp>
        <p:nvSpPr>
          <p:cNvPr id="9" name="Stat label sugars"/>
          <p:cNvSpPr txBox="1"/>
          <p:nvPr/>
        </p:nvSpPr>
        <p:spPr>
          <a:xfrm>
            <a:off x="155448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0" name="Stat protein"/>
          <p:cNvSpPr txBox="1"/>
          <p:nvPr/>
        </p:nvSpPr>
        <p:spPr>
          <a:xfrm>
            <a:off x="265176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g</a:t>
            </a:r>
            <a:endParaRPr lang="en-US" sz="2800" dirty="0"/>
          </a:p>
        </p:txBody>
      </p:sp>
      <p:sp>
        <p:nvSpPr>
          <p:cNvPr id="11" name="Stat label protein"/>
          <p:cNvSpPr txBox="1"/>
          <p:nvPr/>
        </p:nvSpPr>
        <p:spPr>
          <a:xfrm>
            <a:off x="265176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2" name="Nutrition detail"/>
          <p:cNvSpPr txBox="1"/>
          <p:nvPr/>
        </p:nvSpPr>
        <p:spPr>
          <a:xfrm>
            <a:off x="4572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176 kJ  ·  Fat 0 g  ·  Carbohydrate 10.6 g  ·  Salt 0 g</a:t>
            </a:r>
            <a:endParaRPr lang="en-US" sz="1100" dirty="0"/>
          </a:p>
        </p:txBody>
      </p:sp>
      <p:sp>
        <p:nvSpPr>
          <p:cNvPr id="13" name="Claims"/>
          <p:cNvSpPr txBox="1"/>
          <p:nvPr/>
        </p:nvSpPr>
        <p:spPr>
          <a:xfrm>
            <a:off x="45720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natural  ·  Not from concentrate  ·  No added sugar</a:t>
            </a:r>
            <a:endParaRPr lang="en-US" sz="1000" dirty="0"/>
          </a:p>
        </p:txBody>
      </p:sp>
      <p:pic>
        <p:nvPicPr>
          <p:cNvPr id="14" name="Front" descr="SHIRÁ Pear front of bot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2494483" cy="4023360"/>
          </a:xfrm>
          <a:prstGeom prst="rect">
            <a:avLst/>
          </a:prstGeom>
        </p:spPr>
      </p:pic>
      <p:pic>
        <p:nvPicPr>
          <p:cNvPr id="15" name="Back" descr="SHIRÁ Pear back of bottle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457200"/>
            <a:ext cx="2494483" cy="4023360"/>
          </a:xfrm>
          <a:prstGeom prst="rect">
            <a:avLst/>
          </a:prstGeom>
        </p:spPr>
      </p:pic>
      <p:sp>
        <p:nvSpPr>
          <p:cNvPr id="16" name="Front caption"/>
          <p:cNvSpPr txBox="1"/>
          <p:nvPr/>
        </p:nvSpPr>
        <p:spPr>
          <a:xfrm>
            <a:off x="3931920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00" dirty="0"/>
          </a:p>
        </p:txBody>
      </p:sp>
      <p:sp>
        <p:nvSpPr>
          <p:cNvPr id="17" name="Back caption"/>
          <p:cNvSpPr txBox="1"/>
          <p:nvPr/>
        </p:nvSpPr>
        <p:spPr>
          <a:xfrm>
            <a:off x="6563563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365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SHIRÁ  ·  500 ml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685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7A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Plum</a:t>
            </a:r>
            <a:endParaRPr lang="en-US" sz="4400" dirty="0"/>
          </a:p>
        </p:txBody>
      </p:sp>
      <p:sp>
        <p:nvSpPr>
          <p:cNvPr id="4" name="Taste"/>
          <p:cNvSpPr txBox="1"/>
          <p:nvPr/>
        </p:nvSpPr>
        <p:spPr>
          <a:xfrm>
            <a:off x="45720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smooth taste of real plums in every sip.</a:t>
            </a:r>
            <a:endParaRPr lang="en-US" sz="1600" dirty="0"/>
          </a:p>
        </p:txBody>
      </p:sp>
      <p:sp>
        <p:nvSpPr>
          <p:cNvPr id="5" name="Per 100 ml"/>
          <p:cNvSpPr txBox="1"/>
          <p:nvPr/>
        </p:nvSpPr>
        <p:spPr>
          <a:xfrm>
            <a:off x="45720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6" name="Stat kcal"/>
          <p:cNvSpPr txBox="1"/>
          <p:nvPr/>
        </p:nvSpPr>
        <p:spPr>
          <a:xfrm>
            <a:off x="45720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800" dirty="0"/>
          </a:p>
        </p:txBody>
      </p:sp>
      <p:sp>
        <p:nvSpPr>
          <p:cNvPr id="7" name="Stat label kcal"/>
          <p:cNvSpPr txBox="1"/>
          <p:nvPr/>
        </p:nvSpPr>
        <p:spPr>
          <a:xfrm>
            <a:off x="45720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8" name="Stat sugars"/>
          <p:cNvSpPr txBox="1"/>
          <p:nvPr/>
        </p:nvSpPr>
        <p:spPr>
          <a:xfrm>
            <a:off x="155448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10.9 g</a:t>
            </a:r>
            <a:endParaRPr lang="en-US" sz="2800" dirty="0"/>
          </a:p>
        </p:txBody>
      </p:sp>
      <p:sp>
        <p:nvSpPr>
          <p:cNvPr id="9" name="Stat label sugars"/>
          <p:cNvSpPr txBox="1"/>
          <p:nvPr/>
        </p:nvSpPr>
        <p:spPr>
          <a:xfrm>
            <a:off x="155448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0" name="Stat protein"/>
          <p:cNvSpPr txBox="1"/>
          <p:nvPr/>
        </p:nvSpPr>
        <p:spPr>
          <a:xfrm>
            <a:off x="265176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15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 g</a:t>
            </a:r>
            <a:endParaRPr lang="en-US" sz="2800" dirty="0"/>
          </a:p>
        </p:txBody>
      </p:sp>
      <p:sp>
        <p:nvSpPr>
          <p:cNvPr id="11" name="Stat label protein"/>
          <p:cNvSpPr txBox="1"/>
          <p:nvPr/>
        </p:nvSpPr>
        <p:spPr>
          <a:xfrm>
            <a:off x="265176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2" name="Nutrition detail"/>
          <p:cNvSpPr txBox="1"/>
          <p:nvPr/>
        </p:nvSpPr>
        <p:spPr>
          <a:xfrm>
            <a:off x="4572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189 kJ  ·  Fat 0 g  ·  Carbohydrate 10.9 g  ·  Salt 0 g</a:t>
            </a:r>
            <a:endParaRPr lang="en-US" sz="1100" dirty="0"/>
          </a:p>
        </p:txBody>
      </p:sp>
      <p:sp>
        <p:nvSpPr>
          <p:cNvPr id="13" name="Claims"/>
          <p:cNvSpPr txBox="1"/>
          <p:nvPr/>
        </p:nvSpPr>
        <p:spPr>
          <a:xfrm>
            <a:off x="45720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natural  ·  Not from concentrate  ·  No added sugar</a:t>
            </a:r>
            <a:endParaRPr lang="en-US" sz="1000" dirty="0"/>
          </a:p>
        </p:txBody>
      </p:sp>
      <p:pic>
        <p:nvPicPr>
          <p:cNvPr id="14" name="Front" descr="SHIRÁ Plum front of bot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2494483" cy="4023360"/>
          </a:xfrm>
          <a:prstGeom prst="rect">
            <a:avLst/>
          </a:prstGeom>
        </p:spPr>
      </p:pic>
      <p:pic>
        <p:nvPicPr>
          <p:cNvPr id="15" name="Back" descr="SHIRÁ Plum back of bottle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457200"/>
            <a:ext cx="2494483" cy="4023360"/>
          </a:xfrm>
          <a:prstGeom prst="rect">
            <a:avLst/>
          </a:prstGeom>
        </p:spPr>
      </p:pic>
      <p:sp>
        <p:nvSpPr>
          <p:cNvPr id="16" name="Front caption"/>
          <p:cNvSpPr txBox="1"/>
          <p:nvPr/>
        </p:nvSpPr>
        <p:spPr>
          <a:xfrm>
            <a:off x="3931920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00" dirty="0"/>
          </a:p>
        </p:txBody>
      </p:sp>
      <p:sp>
        <p:nvSpPr>
          <p:cNvPr id="17" name="Back caption"/>
          <p:cNvSpPr txBox="1"/>
          <p:nvPr/>
        </p:nvSpPr>
        <p:spPr>
          <a:xfrm>
            <a:off x="6563563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365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SHIRÁ  ·  500 ml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685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02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Tomato</a:t>
            </a:r>
            <a:endParaRPr lang="en-US" sz="4400" dirty="0"/>
          </a:p>
        </p:txBody>
      </p:sp>
      <p:sp>
        <p:nvSpPr>
          <p:cNvPr id="4" name="Taste"/>
          <p:cNvSpPr txBox="1"/>
          <p:nvPr/>
        </p:nvSpPr>
        <p:spPr>
          <a:xfrm>
            <a:off x="45720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natural taste of real sun-ripened tomatoes.</a:t>
            </a:r>
            <a:endParaRPr lang="en-US" sz="1600" dirty="0"/>
          </a:p>
        </p:txBody>
      </p:sp>
      <p:sp>
        <p:nvSpPr>
          <p:cNvPr id="5" name="Per 100 ml"/>
          <p:cNvSpPr txBox="1"/>
          <p:nvPr/>
        </p:nvSpPr>
        <p:spPr>
          <a:xfrm>
            <a:off x="45720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ML</a:t>
            </a:r>
            <a:endParaRPr lang="en-US" sz="1000" dirty="0"/>
          </a:p>
        </p:txBody>
      </p:sp>
      <p:sp>
        <p:nvSpPr>
          <p:cNvPr id="6" name="Stat kcal"/>
          <p:cNvSpPr txBox="1"/>
          <p:nvPr/>
        </p:nvSpPr>
        <p:spPr>
          <a:xfrm>
            <a:off x="45720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2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7" name="Stat label kcal"/>
          <p:cNvSpPr txBox="1"/>
          <p:nvPr/>
        </p:nvSpPr>
        <p:spPr>
          <a:xfrm>
            <a:off x="45720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kcal</a:t>
            </a:r>
            <a:endParaRPr lang="en-US" sz="1100" dirty="0"/>
          </a:p>
        </p:txBody>
      </p:sp>
      <p:sp>
        <p:nvSpPr>
          <p:cNvPr id="8" name="Stat sugars"/>
          <p:cNvSpPr txBox="1"/>
          <p:nvPr/>
        </p:nvSpPr>
        <p:spPr>
          <a:xfrm>
            <a:off x="155448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2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 g</a:t>
            </a:r>
            <a:endParaRPr lang="en-US" sz="2800" dirty="0"/>
          </a:p>
        </p:txBody>
      </p:sp>
      <p:sp>
        <p:nvSpPr>
          <p:cNvPr id="9" name="Stat label sugars"/>
          <p:cNvSpPr txBox="1"/>
          <p:nvPr/>
        </p:nvSpPr>
        <p:spPr>
          <a:xfrm>
            <a:off x="155448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sugars</a:t>
            </a:r>
            <a:endParaRPr lang="en-US" sz="1100" dirty="0"/>
          </a:p>
        </p:txBody>
      </p:sp>
      <p:sp>
        <p:nvSpPr>
          <p:cNvPr id="10" name="Stat protein"/>
          <p:cNvSpPr txBox="1"/>
          <p:nvPr/>
        </p:nvSpPr>
        <p:spPr>
          <a:xfrm>
            <a:off x="2651760" y="2880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2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 g</a:t>
            </a:r>
            <a:endParaRPr lang="en-US" sz="2800" dirty="0"/>
          </a:p>
        </p:txBody>
      </p:sp>
      <p:sp>
        <p:nvSpPr>
          <p:cNvPr id="11" name="Stat label protein"/>
          <p:cNvSpPr txBox="1"/>
          <p:nvPr/>
        </p:nvSpPr>
        <p:spPr>
          <a:xfrm>
            <a:off x="2651760" y="3383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</a:t>
            </a:r>
            <a:endParaRPr lang="en-US" sz="1100" dirty="0"/>
          </a:p>
        </p:txBody>
      </p:sp>
      <p:sp>
        <p:nvSpPr>
          <p:cNvPr id="12" name="Nutrition detail"/>
          <p:cNvSpPr txBox="1"/>
          <p:nvPr/>
        </p:nvSpPr>
        <p:spPr>
          <a:xfrm>
            <a:off x="4572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82 kJ  ·  Fat 0.2 g  ·  Carbohydrate 3.9 g  ·  Salt 0.01 g</a:t>
            </a:r>
            <a:endParaRPr lang="en-US" sz="1100" dirty="0"/>
          </a:p>
        </p:txBody>
      </p:sp>
      <p:sp>
        <p:nvSpPr>
          <p:cNvPr id="13" name="Claims"/>
          <p:cNvSpPr txBox="1"/>
          <p:nvPr/>
        </p:nvSpPr>
        <p:spPr>
          <a:xfrm>
            <a:off x="45720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natural  ·  Not from concentrate  ·  No added sugar</a:t>
            </a:r>
            <a:endParaRPr lang="en-US" sz="1000" dirty="0"/>
          </a:p>
        </p:txBody>
      </p:sp>
      <p:pic>
        <p:nvPicPr>
          <p:cNvPr id="14" name="Front" descr="SHIRÁ Tomato front of bot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2494483" cy="4023360"/>
          </a:xfrm>
          <a:prstGeom prst="rect">
            <a:avLst/>
          </a:prstGeom>
        </p:spPr>
      </p:pic>
      <p:pic>
        <p:nvPicPr>
          <p:cNvPr id="15" name="Back" descr="SHIRÁ Tomato back of bottle with ingredients and nutri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563" y="457200"/>
            <a:ext cx="2494483" cy="4023360"/>
          </a:xfrm>
          <a:prstGeom prst="rect">
            <a:avLst/>
          </a:prstGeom>
        </p:spPr>
      </p:pic>
      <p:sp>
        <p:nvSpPr>
          <p:cNvPr id="16" name="Front caption"/>
          <p:cNvSpPr txBox="1"/>
          <p:nvPr/>
        </p:nvSpPr>
        <p:spPr>
          <a:xfrm>
            <a:off x="3931920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000" dirty="0"/>
          </a:p>
        </p:txBody>
      </p:sp>
      <p:sp>
        <p:nvSpPr>
          <p:cNvPr id="17" name="Back caption"/>
          <p:cNvSpPr txBox="1"/>
          <p:nvPr/>
        </p:nvSpPr>
        <p:spPr>
          <a:xfrm>
            <a:off x="6563563" y="4498848"/>
            <a:ext cx="24944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365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SHIRÁ  ·  500 ml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457200" y="6858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Currant</a:t>
            </a:r>
            <a:endParaRPr lang="en-US" sz="3600" dirty="0"/>
          </a:p>
        </p:txBody>
      </p:sp>
      <p:sp>
        <p:nvSpPr>
          <p:cNvPr id="4" name="Taste"/>
          <p:cNvSpPr txBox="1"/>
          <p:nvPr/>
        </p:nvSpPr>
        <p:spPr>
          <a:xfrm>
            <a:off x="45720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Bright, vivid red currant juice, 100% natural and not from concentrate.</a:t>
            </a:r>
            <a:endParaRPr lang="en-US" sz="1600" dirty="0"/>
          </a:p>
        </p:txBody>
      </p:sp>
      <p:sp>
        <p:nvSpPr>
          <p:cNvPr id="5" name="Nutrition note"/>
          <p:cNvSpPr txBox="1"/>
          <p:nvPr/>
        </p:nvSpPr>
        <p:spPr>
          <a:xfrm>
            <a:off x="457200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details to be confirmed</a:t>
            </a:r>
            <a:endParaRPr lang="en-US" sz="1400" dirty="0"/>
          </a:p>
        </p:txBody>
      </p:sp>
      <p:sp>
        <p:nvSpPr>
          <p:cNvPr id="6" name="Claims"/>
          <p:cNvSpPr txBox="1"/>
          <p:nvPr/>
        </p:nvSpPr>
        <p:spPr>
          <a:xfrm>
            <a:off x="457200" y="4297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natural  ·  Not from concentrate  ·  No added sugar</a:t>
            </a:r>
            <a:endParaRPr lang="en-US" sz="1000" dirty="0"/>
          </a:p>
        </p:txBody>
      </p:sp>
      <p:pic>
        <p:nvPicPr>
          <p:cNvPr id="7" name="Front" descr="SHIRÁ Red Currant front of bot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457200"/>
            <a:ext cx="2494483" cy="4023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706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 title"/>
          <p:cNvSpPr txBox="1"/>
          <p:nvPr/>
        </p:nvSpPr>
        <p:spPr>
          <a:xfrm>
            <a:off x="548640" y="10972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goodness from nature</a:t>
            </a:r>
            <a:endParaRPr lang="en-US" sz="4000" dirty="0"/>
          </a:p>
        </p:txBody>
      </p:sp>
      <p:sp>
        <p:nvSpPr>
          <p:cNvPr id="3" name="Closing text"/>
          <p:cNvSpPr txBox="1"/>
          <p:nvPr/>
        </p:nvSpPr>
        <p:spPr>
          <a:xfrm>
            <a:off x="548640" y="2743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fruit and vegetable juices, one simple promise: 100% juice, nothing else.</a:t>
            </a:r>
            <a:endParaRPr lang="en-US" sz="1600" dirty="0"/>
          </a:p>
        </p:txBody>
      </p:sp>
      <p:sp>
        <p:nvSpPr>
          <p:cNvPr id="4" name="Brand"/>
          <p:cNvSpPr txBox="1"/>
          <p:nvPr/>
        </p:nvSpPr>
        <p:spPr>
          <a:xfrm>
            <a:off x="54864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B8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SHIRÁ</a:t>
            </a:r>
            <a:endParaRPr lang="en-US" sz="1800" dirty="0"/>
          </a:p>
        </p:txBody>
      </p:sp>
      <p:sp>
        <p:nvSpPr>
          <p:cNvPr id="5" name="Hero panel"/>
          <p:cNvSpPr/>
          <p:nvPr/>
        </p:nvSpPr>
        <p:spPr>
          <a:xfrm>
            <a:off x="5394960" y="502920"/>
            <a:ext cx="3337560" cy="411480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Closing 6" descr="SHIRÁ Pumpki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23560" y="640080"/>
            <a:ext cx="1371600" cy="3840480"/>
          </a:xfrm>
          <a:prstGeom prst="rect">
            <a:avLst/>
          </a:prstGeom>
        </p:spPr>
      </p:pic>
      <p:pic>
        <p:nvPicPr>
          <p:cNvPr id="7" name="Closing 9" descr="SHIRÁ Tomat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086600" y="640080"/>
            <a:ext cx="1371600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ra Juice">
  <a:themeElements>
    <a:clrScheme name="Shira Juice">
      <a:dk1>
        <a:srgbClr val="231B16"/>
      </a:dk1>
      <a:lt1>
        <a:srgbClr val="FFFFFF"/>
      </a:lt1>
      <a:dk2>
        <a:srgbClr val="3A2A20"/>
      </a:dk2>
      <a:lt2>
        <a:srgbClr val="F6F3EE"/>
      </a:lt2>
      <a:accent1>
        <a:srgbClr val="B8923A"/>
      </a:accent1>
      <a:accent2>
        <a:srgbClr val="D9822B"/>
      </a:accent2>
      <a:accent3>
        <a:srgbClr val="7A1535"/>
      </a:accent3>
      <a:accent4>
        <a:srgbClr val="C0281C"/>
      </a:accent4>
      <a:accent5>
        <a:srgbClr val="8A8A1E"/>
      </a:accent5>
      <a:accent6>
        <a:srgbClr val="5B1A4A"/>
      </a:accent6>
      <a:hlink>
        <a:srgbClr val="B8923A"/>
      </a:hlink>
      <a:folHlink>
        <a:srgbClr val="7A1535"/>
      </a:folHlink>
    </a:clrScheme>
    <a:fontScheme name="Shira Ju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SHIRÁ Natural Juices – Range Presentation</dc:title>
  <dc:subject>PptxGenJS Presentation</dc:subject>
  <dc:creator>SHIRÁ</dc:creator>
  <cp:lastModifiedBy>SHIRÁ</cp:lastModifiedBy>
  <cp:revision>1</cp:revision>
  <dcterms:created xsi:type="dcterms:W3CDTF">2026-10-18T03:44:05Z</dcterms:created>
  <dcterms:modified xsi:type="dcterms:W3CDTF">2026-10-18T03:44:05Z</dcterms:modified>
</cp:coreProperties>
</file>