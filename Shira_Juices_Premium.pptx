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021ff9-c947-f972-57c3-72184ca09d48}">
          <p14:sldIdLst>
            <p14:sldId id="256"/>
            <p14:sldId id="257"/>
            <p14:sldId id="258"/>
          </p14:sldIdLst>
        </p14:section>
        <p14:section name="Orchard" id="{3ee08090-e36a-8d3b-5e60-353f1094737b}">
          <p14:sldIdLst>
            <p14:sldId id="259"/>
            <p14:sldId id="260"/>
            <p14:sldId id="261"/>
            <p14:sldId id="262"/>
            <p14:sldId id="263"/>
          </p14:sldIdLst>
        </p14:section>
        <p14:section name="Berries &amp; Hips" id="{d2901447-7106-01fe-7118-3813de850729}">
          <p14:sldIdLst>
            <p14:sldId id="264"/>
            <p14:sldId id="265"/>
            <p14:sldId id="266"/>
            <p14:sldId id="267"/>
          </p14:sldIdLst>
        </p14:section>
        <p14:section name="Garden &amp; Exotic" id="{845256f4-99fa-1b96-4a05-3ef95a412412}">
          <p14:sldIdLst>
            <p14:sldId id="268"/>
            <p14:sldId id="269"/>
            <p14:sldId id="270"/>
            <p14:sldId id="271"/>
          </p14:sldIdLst>
        </p14:section>
        <p14:section name="Nutrition &amp; Label" id="{5bdcfae6-c5e8-45e9-cad2-51a495ef9477}">
          <p14:sldIdLst>
            <p14:sldId id="272"/>
            <p14:sldId id="273"/>
          </p14:sldIdLst>
        </p14:section>
        <p14:section name="Close" id="{7874e64b-b7e2-845a-348e-ccd771d9462a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2A20"/>
                </a:solidFill>
                <a:latin typeface="+mn-lt"/>
              </a:rPr>
              <a:t>Energy, kcal per 100 ml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</c:v>
                </c:pt>
              </c:strCache>
            </c:strRef>
          </c:tx>
          <c:spPr>
            <a:solidFill>
              <a:srgbClr val="E3A5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A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A5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2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9A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58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66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E6A5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6C23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8A3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E5A47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Apple</c:v>
                  </c:pt>
                  <c:pt idx="1">
                    <c:v>Pear</c:v>
                  </c:pt>
                  <c:pt idx="2">
                    <c:v>Peach</c:v>
                  </c:pt>
                  <c:pt idx="3">
                    <c:v>Plum</c:v>
                  </c:pt>
                  <c:pt idx="4">
                    <c:v>Blackberry</c:v>
                  </c:pt>
                  <c:pt idx="5">
                    <c:v>Rosehip</c:v>
                  </c:pt>
                  <c:pt idx="6">
                    <c:v>Feijoa</c:v>
                  </c:pt>
                  <c:pt idx="7">
                    <c:v>Pumpkin</c:v>
                  </c:pt>
                  <c:pt idx="8">
                    <c:v>Tomato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</c:v>
                </c:pt>
                <c:pt idx="1">
                  <c:v>41</c:v>
                </c:pt>
                <c:pt idx="2">
                  <c:v>42</c:v>
                </c:pt>
                <c:pt idx="3">
                  <c:v>45</c:v>
                </c:pt>
                <c:pt idx="4">
                  <c:v>43</c:v>
                </c:pt>
                <c:pt idx="5">
                  <c:v>42</c:v>
                </c:pt>
                <c:pt idx="6">
                  <c:v>44</c:v>
                </c:pt>
                <c:pt idx="7">
                  <c:v>36</c:v>
                </c:pt>
                <c:pt idx="8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3A2A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2A20"/>
                </a:solidFill>
                <a:latin typeface="+mn-lt"/>
              </a:rPr>
              <a:t>Sugars, g per 100 ml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sugars</c:v>
                </c:pt>
              </c:strCache>
            </c:strRef>
          </c:tx>
          <c:spPr>
            <a:solidFill>
              <a:srgbClr val="E3A5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A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A5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2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9A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58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66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E6A5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6C23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8A3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E5A47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Apple</c:v>
                  </c:pt>
                  <c:pt idx="1">
                    <c:v>Pear</c:v>
                  </c:pt>
                  <c:pt idx="2">
                    <c:v>Peach</c:v>
                  </c:pt>
                  <c:pt idx="3">
                    <c:v>Plum</c:v>
                  </c:pt>
                  <c:pt idx="4">
                    <c:v>Blackberry</c:v>
                  </c:pt>
                  <c:pt idx="5">
                    <c:v>Rosehip</c:v>
                  </c:pt>
                  <c:pt idx="6">
                    <c:v>Feijoa</c:v>
                  </c:pt>
                  <c:pt idx="7">
                    <c:v>Pumpkin</c:v>
                  </c:pt>
                  <c:pt idx="8">
                    <c:v>Tomato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10.4</c:v>
                </c:pt>
                <c:pt idx="1">
                  <c:v>10.6</c:v>
                </c:pt>
                <c:pt idx="2">
                  <c:v>9.8</c:v>
                </c:pt>
                <c:pt idx="3">
                  <c:v>10.9</c:v>
                </c:pt>
                <c:pt idx="4">
                  <c:v>10.2</c:v>
                </c:pt>
                <c:pt idx="5">
                  <c:v>9.8</c:v>
                </c:pt>
                <c:pt idx="6">
                  <c:v>10.8</c:v>
                </c:pt>
                <c:pt idx="7">
                  <c:v>6.1</c:v>
                </c:pt>
                <c:pt idx="8">
                  <c:v>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A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Ten flavours in one line-up, arranged by flavour family: Orchard, Berries &amp; Hips, Garden &amp; Exotic.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promise is printed on every bottle: 100% juice, nothing else; not from concentrate; no added sugar; no preservatives; 500 ml recyclable glass.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flavour families: Orchard (apple, pear, peach, plum), Berries &amp; Hips (blackberry, red currant, rosehip), Garden &amp; Exotic (feijoa, pumpkin, tomato).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Orchard. Crisp, smooth and naturally sweet.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Apple: Crisp, refreshing taste of real apples in every sip. Per 100 ml: 43 kcal (184 kJ), 10.4 g sugars, 0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Pear: Crisp, refreshing taste of real pears in every sip. Per 100 ml: 41 kcal (176 kJ), 10.6 g sugars, 0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Peach: Smooth, naturally sweet taste of real peaches in every sip. Per 100 ml: 42 kcal (178 kJ), 9.8 g sugars, 0.7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Plum: Rich, smooth taste of real plums in every sip. Per 100 ml: 45 kcal (189 kJ), 10.9 g sugars, 0.6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Berries &amp; Hips. Rich, bold and vibrantly 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Blackberry: Rich, bold and refreshing taste of real blackberries. Per 100 ml: 43 kcal (182 kJ), 10.2 g sugars, 0.6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Currant: Bright, vivid red currant juice. 100% natural, not from concentrate. The back label was not supplied, so nutrition values still need to be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Rosehip: Vibrant, naturally tangy taste of real rosehips. Per 100 ml: 42 kcal (176 kJ), 9.8 g sugars, 0.6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Garden &amp; Exotic. Unique, smooth and naturally rich.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Feijoa: The unique, refreshing taste of real feijoa in every sip. Per 100 ml: 44 kcal (186 kJ), 10.8 g sugars, 0.3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Pumpkin: Smooth, naturally sweet taste of real pumpkin in every sip. Per 100 ml: 36 kcal (153 kJ), 6.1 g sugars, 0.9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Tomato: Rich, natural taste of real sun-ripened tomatoes. Per 100 ml: 20 kcal (82 kJ), 3.9 g sugars, 0.9 g protein. Source: bottle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100 ml values come from the back labels. Fruit juices range from 36 kcal (pumpkin) to 45 kcal (plum); tomato is 20 kcal. Red currant is excluded because its back label was not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Anatomy of the back label, shown on Peach. All flavours share the same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Add contact details here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9B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9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Slide-17-image-1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</a:t>
            </a:r>
            <a:endParaRPr lang="en-US" sz="1100" dirty="0"/>
          </a:p>
        </p:txBody>
      </p:sp>
      <p:sp>
        <p:nvSpPr>
          <p:cNvPr id="3" name="Brand"/>
          <p:cNvSpPr txBox="1"/>
          <p:nvPr/>
        </p:nvSpPr>
        <p:spPr>
          <a:xfrm>
            <a:off x="502920" y="640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spc="600" kern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SHIRÁ</a:t>
            </a:r>
            <a:endParaRPr lang="en-US" sz="5400" dirty="0"/>
          </a:p>
        </p:txBody>
      </p:sp>
      <p:sp>
        <p:nvSpPr>
          <p:cNvPr id="4" name="Tagline"/>
          <p:cNvSpPr txBox="1"/>
          <p:nvPr/>
        </p:nvSpPr>
        <p:spPr>
          <a:xfrm>
            <a:off x="5120640" y="502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natural juices.</a:t>
            </a:r>
            <a:endParaRPr lang="en-US" sz="1800" dirty="0"/>
          </a:p>
          <a:p>
            <a:pPr algn="r"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from concentrate.</a:t>
            </a:r>
            <a:endParaRPr lang="en-US" sz="1800" dirty="0"/>
          </a:p>
        </p:txBody>
      </p:sp>
      <p:sp>
        <p:nvSpPr>
          <p:cNvPr id="5" name="Subtitle"/>
          <p:cNvSpPr txBox="1"/>
          <p:nvPr/>
        </p:nvSpPr>
        <p:spPr>
          <a:xfrm>
            <a:off x="4572000" y="1188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presentation for retail and sales partners</a:t>
            </a:r>
            <a:endParaRPr lang="en-US" sz="1200" dirty="0"/>
          </a:p>
        </p:txBody>
      </p:sp>
      <p:pic>
        <p:nvPicPr>
          <p:cNvPr id="6" name="Lineup Apple" descr="SHIRÁ Apple juice bot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0" y="1481328"/>
            <a:ext cx="890077" cy="2879994"/>
          </a:xfrm>
          <a:prstGeom prst="rect">
            <a:avLst/>
          </a:prstGeom>
        </p:spPr>
      </p:pic>
      <p:pic>
        <p:nvPicPr>
          <p:cNvPr id="7" name="Lineup Pear" descr="SHIRÁ Pear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067" y="1481328"/>
            <a:ext cx="938266" cy="2879994"/>
          </a:xfrm>
          <a:prstGeom prst="rect">
            <a:avLst/>
          </a:prstGeom>
        </p:spPr>
      </p:pic>
      <p:pic>
        <p:nvPicPr>
          <p:cNvPr id="8" name="Lineup Peach" descr="SHIRÁ Peach juice bott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632" y="1481328"/>
            <a:ext cx="909919" cy="2879994"/>
          </a:xfrm>
          <a:prstGeom prst="rect">
            <a:avLst/>
          </a:prstGeom>
        </p:spPr>
      </p:pic>
      <p:pic>
        <p:nvPicPr>
          <p:cNvPr id="9" name="Lineup Plum" descr="SHIRÁ Plum juice bott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780" y="1481328"/>
            <a:ext cx="884408" cy="2879994"/>
          </a:xfrm>
          <a:prstGeom prst="rect">
            <a:avLst/>
          </a:prstGeom>
        </p:spPr>
      </p:pic>
      <p:pic>
        <p:nvPicPr>
          <p:cNvPr id="10" name="Lineup Blackberry" descr="SHIRÁ Blackberry juice bott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314" y="1481328"/>
            <a:ext cx="992124" cy="2879994"/>
          </a:xfrm>
          <a:prstGeom prst="rect">
            <a:avLst/>
          </a:prstGeom>
        </p:spPr>
      </p:pic>
      <p:pic>
        <p:nvPicPr>
          <p:cNvPr id="11" name="Lineup Red Currant" descr="SHIRÁ Red Currant juice bott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722" y="1481328"/>
            <a:ext cx="924093" cy="2879994"/>
          </a:xfrm>
          <a:prstGeom prst="rect">
            <a:avLst/>
          </a:prstGeom>
        </p:spPr>
      </p:pic>
      <p:pic>
        <p:nvPicPr>
          <p:cNvPr id="12" name="Lineup Rosehip" descr="SHIRÁ Rosehip juice bott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7043" y="1481328"/>
            <a:ext cx="870234" cy="2879994"/>
          </a:xfrm>
          <a:prstGeom prst="rect">
            <a:avLst/>
          </a:prstGeom>
        </p:spPr>
      </p:pic>
      <p:pic>
        <p:nvPicPr>
          <p:cNvPr id="13" name="Lineup Feijoa" descr="SHIRÁ Feijoa juice bott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8931" y="1481328"/>
            <a:ext cx="887242" cy="2879994"/>
          </a:xfrm>
          <a:prstGeom prst="rect">
            <a:avLst/>
          </a:prstGeom>
        </p:spPr>
      </p:pic>
      <p:pic>
        <p:nvPicPr>
          <p:cNvPr id="14" name="Lineup Pumpkin" descr="SHIRÁ Pumpkin juice bott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717" y="1481328"/>
            <a:ext cx="986455" cy="2879994"/>
          </a:xfrm>
          <a:prstGeom prst="rect">
            <a:avLst/>
          </a:prstGeom>
        </p:spPr>
      </p:pic>
      <p:pic>
        <p:nvPicPr>
          <p:cNvPr id="15" name="Lineup Tomato" descr="SHIRÁ Tomato juice bottl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9715" y="1481328"/>
            <a:ext cx="887242" cy="28799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02920" y="10058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goodness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nature.</a:t>
            </a:r>
            <a:endParaRPr lang="en-US" sz="4200" dirty="0"/>
          </a:p>
        </p:txBody>
      </p:sp>
      <p:sp>
        <p:nvSpPr>
          <p:cNvPr id="4" name="Body"/>
          <p:cNvSpPr txBox="1"/>
          <p:nvPr/>
        </p:nvSpPr>
        <p:spPr>
          <a:xfrm>
            <a:off x="50292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SHIRÁ bottle holds one ingredient: the fruit or vegetable named on the label. Nothing else.</a:t>
            </a:r>
            <a:endParaRPr lang="en-US" sz="1600" dirty="0"/>
          </a:p>
        </p:txBody>
      </p:sp>
      <p:sp>
        <p:nvSpPr>
          <p:cNvPr id="5" name="Pillar card 1"/>
          <p:cNvSpPr/>
          <p:nvPr/>
        </p:nvSpPr>
        <p:spPr>
          <a:xfrm>
            <a:off x="4572000" y="64008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D9B866">
                <a:alpha val="45000"/>
              </a:srgbClr>
            </a:solidFill>
            <a:prstDash val="solid"/>
          </a:ln>
        </p:spPr>
      </p:sp>
      <p:pic>
        <p:nvPicPr>
          <p:cNvPr id="6" name="Pillar icon 1" descr="100% natural jui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365760" cy="365760"/>
          </a:xfrm>
          <a:prstGeom prst="rect">
            <a:avLst/>
          </a:prstGeom>
        </p:spPr>
      </p:pic>
      <p:sp>
        <p:nvSpPr>
          <p:cNvPr id="7" name="Pillar title 1"/>
          <p:cNvSpPr txBox="1"/>
          <p:nvPr/>
        </p:nvSpPr>
        <p:spPr>
          <a:xfrm>
            <a:off x="47548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juice</a:t>
            </a:r>
            <a:endParaRPr lang="en-US" sz="1400" dirty="0"/>
          </a:p>
        </p:txBody>
      </p:sp>
      <p:sp>
        <p:nvSpPr>
          <p:cNvPr id="8" name="Pillar text 1"/>
          <p:cNvSpPr txBox="1"/>
          <p:nvPr/>
        </p:nvSpPr>
        <p:spPr>
          <a:xfrm>
            <a:off x="4754880" y="18013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Ingredients: 100% juice. Nothing else.</a:t>
            </a:r>
            <a:endParaRPr lang="en-US" sz="1100" dirty="0"/>
          </a:p>
        </p:txBody>
      </p:sp>
      <p:sp>
        <p:nvSpPr>
          <p:cNvPr id="9" name="Pillar card 2"/>
          <p:cNvSpPr/>
          <p:nvPr/>
        </p:nvSpPr>
        <p:spPr>
          <a:xfrm>
            <a:off x="6675120" y="64008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D9B866">
                <a:alpha val="45000"/>
              </a:srgbClr>
            </a:solidFill>
            <a:prstDash val="solid"/>
          </a:ln>
        </p:spPr>
      </p:sp>
      <p:pic>
        <p:nvPicPr>
          <p:cNvPr id="10" name="Pillar icon 2" descr="Not from concentr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841248"/>
            <a:ext cx="365760" cy="365760"/>
          </a:xfrm>
          <a:prstGeom prst="rect">
            <a:avLst/>
          </a:prstGeom>
        </p:spPr>
      </p:pic>
      <p:sp>
        <p:nvSpPr>
          <p:cNvPr id="11" name="Pillar title 2"/>
          <p:cNvSpPr txBox="1"/>
          <p:nvPr/>
        </p:nvSpPr>
        <p:spPr>
          <a:xfrm>
            <a:off x="685800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concentrate</a:t>
            </a:r>
            <a:endParaRPr lang="en-US" sz="1400" dirty="0"/>
          </a:p>
        </p:txBody>
      </p:sp>
      <p:sp>
        <p:nvSpPr>
          <p:cNvPr id="12" name="Pillar text 2"/>
          <p:cNvSpPr txBox="1"/>
          <p:nvPr/>
        </p:nvSpPr>
        <p:spPr>
          <a:xfrm>
            <a:off x="6858000" y="18013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carefully selected, sun-ripened fruit.</a:t>
            </a:r>
            <a:endParaRPr lang="en-US" sz="1100" dirty="0"/>
          </a:p>
        </p:txBody>
      </p:sp>
      <p:sp>
        <p:nvSpPr>
          <p:cNvPr id="13" name="Pillar card 3"/>
          <p:cNvSpPr/>
          <p:nvPr/>
        </p:nvSpPr>
        <p:spPr>
          <a:xfrm>
            <a:off x="4572000" y="256032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D9B866">
                <a:alpha val="45000"/>
              </a:srgbClr>
            </a:solidFill>
            <a:prstDash val="solid"/>
          </a:ln>
        </p:spPr>
      </p:sp>
      <p:pic>
        <p:nvPicPr>
          <p:cNvPr id="14" name="Pillar icon 3" descr="No added sugar, no preservativ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61488"/>
            <a:ext cx="365760" cy="365760"/>
          </a:xfrm>
          <a:prstGeom prst="rect">
            <a:avLst/>
          </a:prstGeom>
        </p:spPr>
      </p:pic>
      <p:sp>
        <p:nvSpPr>
          <p:cNvPr id="15" name="Pillar title 3"/>
          <p:cNvSpPr txBox="1"/>
          <p:nvPr/>
        </p:nvSpPr>
        <p:spPr>
          <a:xfrm>
            <a:off x="47548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added sugar, no preservatives</a:t>
            </a:r>
            <a:endParaRPr lang="en-US" sz="1400" dirty="0"/>
          </a:p>
        </p:txBody>
      </p:sp>
      <p:sp>
        <p:nvSpPr>
          <p:cNvPr id="16" name="Pillar text 3"/>
          <p:cNvSpPr txBox="1"/>
          <p:nvPr/>
        </p:nvSpPr>
        <p:spPr>
          <a:xfrm>
            <a:off x="4754880" y="37216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natural sugars of the fruit.</a:t>
            </a:r>
            <a:endParaRPr lang="en-US" sz="1100" dirty="0"/>
          </a:p>
        </p:txBody>
      </p:sp>
      <p:sp>
        <p:nvSpPr>
          <p:cNvPr id="17" name="Pillar card 4"/>
          <p:cNvSpPr/>
          <p:nvPr/>
        </p:nvSpPr>
        <p:spPr>
          <a:xfrm>
            <a:off x="6675120" y="256032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D9B866">
                <a:alpha val="45000"/>
              </a:srgbClr>
            </a:solidFill>
            <a:prstDash val="solid"/>
          </a:ln>
        </p:spPr>
      </p:sp>
      <p:pic>
        <p:nvPicPr>
          <p:cNvPr id="18" name="Pillar icon 4" descr="500 ml glass bott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761488"/>
            <a:ext cx="365760" cy="365760"/>
          </a:xfrm>
          <a:prstGeom prst="rect">
            <a:avLst/>
          </a:prstGeom>
        </p:spPr>
      </p:pic>
      <p:sp>
        <p:nvSpPr>
          <p:cNvPr id="19" name="Pillar title 4"/>
          <p:cNvSpPr txBox="1"/>
          <p:nvPr/>
        </p:nvSpPr>
        <p:spPr>
          <a:xfrm>
            <a:off x="68580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ml glass bottle</a:t>
            </a:r>
            <a:endParaRPr lang="en-US" sz="1400" dirty="0"/>
          </a:p>
        </p:txBody>
      </p:sp>
      <p:sp>
        <p:nvSpPr>
          <p:cNvPr id="20" name="Pillar text 4"/>
          <p:cNvSpPr txBox="1"/>
          <p:nvPr/>
        </p:nvSpPr>
        <p:spPr>
          <a:xfrm>
            <a:off x="6858000" y="37216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cap. Please recycle.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flavours. Three families.</a:t>
            </a:r>
            <a:endParaRPr lang="en-US" sz="3400" dirty="0"/>
          </a:p>
        </p:txBody>
      </p:sp>
      <p:pic>
        <p:nvPicPr>
          <p:cNvPr id="4" name="Range Apple" descr="SHIRÁ Ap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08" y="1188720"/>
            <a:ext cx="732160" cy="2369028"/>
          </a:xfrm>
          <a:prstGeom prst="rect">
            <a:avLst/>
          </a:prstGeom>
        </p:spPr>
      </p:pic>
      <p:sp>
        <p:nvSpPr>
          <p:cNvPr id="5" name="Range label Apple"/>
          <p:cNvSpPr txBox="1"/>
          <p:nvPr/>
        </p:nvSpPr>
        <p:spPr>
          <a:xfrm>
            <a:off x="301752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pic>
        <p:nvPicPr>
          <p:cNvPr id="6" name="Range Pear" descr="SHIRÁ Pe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84" y="1188720"/>
            <a:ext cx="771799" cy="2369028"/>
          </a:xfrm>
          <a:prstGeom prst="rect">
            <a:avLst/>
          </a:prstGeom>
        </p:spPr>
      </p:pic>
      <p:sp>
        <p:nvSpPr>
          <p:cNvPr id="7" name="Range label Pear"/>
          <p:cNvSpPr txBox="1"/>
          <p:nvPr/>
        </p:nvSpPr>
        <p:spPr>
          <a:xfrm>
            <a:off x="1069848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</a:t>
            </a:r>
            <a:endParaRPr lang="en-US" sz="1000" dirty="0"/>
          </a:p>
        </p:txBody>
      </p:sp>
      <p:pic>
        <p:nvPicPr>
          <p:cNvPr id="8" name="Range Peach" descr="SHIRÁ Pea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039" y="1188720"/>
            <a:ext cx="748482" cy="2369028"/>
          </a:xfrm>
          <a:prstGeom prst="rect">
            <a:avLst/>
          </a:prstGeom>
        </p:spPr>
      </p:pic>
      <p:sp>
        <p:nvSpPr>
          <p:cNvPr id="9" name="Range label Peach"/>
          <p:cNvSpPr txBox="1"/>
          <p:nvPr/>
        </p:nvSpPr>
        <p:spPr>
          <a:xfrm>
            <a:off x="1837944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</a:t>
            </a:r>
            <a:endParaRPr lang="en-US" sz="1000" dirty="0"/>
          </a:p>
        </p:txBody>
      </p:sp>
      <p:pic>
        <p:nvPicPr>
          <p:cNvPr id="10" name="Range Plum" descr="SHIRÁ Plu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4628" y="1188720"/>
            <a:ext cx="727497" cy="2369028"/>
          </a:xfrm>
          <a:prstGeom prst="rect">
            <a:avLst/>
          </a:prstGeom>
        </p:spPr>
      </p:pic>
      <p:sp>
        <p:nvSpPr>
          <p:cNvPr id="11" name="Range label Plum"/>
          <p:cNvSpPr txBox="1"/>
          <p:nvPr/>
        </p:nvSpPr>
        <p:spPr>
          <a:xfrm>
            <a:off x="2606040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</a:t>
            </a:r>
            <a:endParaRPr lang="en-US" sz="1000" dirty="0"/>
          </a:p>
        </p:txBody>
      </p:sp>
      <p:sp>
        <p:nvSpPr>
          <p:cNvPr id="12" name="Group rule Orchard"/>
          <p:cNvSpPr/>
          <p:nvPr/>
        </p:nvSpPr>
        <p:spPr>
          <a:xfrm>
            <a:off x="393192" y="4114800"/>
            <a:ext cx="2926080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13" name="Group name Orchard"/>
          <p:cNvSpPr txBox="1"/>
          <p:nvPr/>
        </p:nvSpPr>
        <p:spPr>
          <a:xfrm>
            <a:off x="320040" y="42062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</a:t>
            </a:r>
            <a:endParaRPr lang="en-US" sz="1100" dirty="0"/>
          </a:p>
        </p:txBody>
      </p:sp>
      <p:pic>
        <p:nvPicPr>
          <p:cNvPr id="14" name="Range Blackberry" descr="SHIRÁ Blackber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901" y="1188720"/>
            <a:ext cx="816102" cy="2369028"/>
          </a:xfrm>
          <a:prstGeom prst="rect">
            <a:avLst/>
          </a:prstGeom>
        </p:spPr>
      </p:pic>
      <p:sp>
        <p:nvSpPr>
          <p:cNvPr id="15" name="Range label Blackberry"/>
          <p:cNvSpPr txBox="1"/>
          <p:nvPr/>
        </p:nvSpPr>
        <p:spPr>
          <a:xfrm>
            <a:off x="3785616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Blackberry</a:t>
            </a:r>
            <a:endParaRPr lang="en-US" sz="1000" dirty="0"/>
          </a:p>
        </p:txBody>
      </p:sp>
      <p:pic>
        <p:nvPicPr>
          <p:cNvPr id="16" name="Range Red Currant" descr="SHIRÁ Red Curra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978" y="1188720"/>
            <a:ext cx="760141" cy="2369028"/>
          </a:xfrm>
          <a:prstGeom prst="rect">
            <a:avLst/>
          </a:prstGeom>
        </p:spPr>
      </p:pic>
      <p:sp>
        <p:nvSpPr>
          <p:cNvPr id="17" name="Range label Red Currant"/>
          <p:cNvSpPr txBox="1"/>
          <p:nvPr/>
        </p:nvSpPr>
        <p:spPr>
          <a:xfrm>
            <a:off x="4553712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Currant</a:t>
            </a:r>
            <a:endParaRPr lang="en-US" sz="1000" dirty="0"/>
          </a:p>
        </p:txBody>
      </p:sp>
      <p:pic>
        <p:nvPicPr>
          <p:cNvPr id="18" name="Range Rosehip" descr="SHIRÁ Rosehi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6225" y="1188720"/>
            <a:ext cx="715838" cy="2369028"/>
          </a:xfrm>
          <a:prstGeom prst="rect">
            <a:avLst/>
          </a:prstGeom>
        </p:spPr>
      </p:pic>
      <p:sp>
        <p:nvSpPr>
          <p:cNvPr id="19" name="Range label Rosehip"/>
          <p:cNvSpPr txBox="1"/>
          <p:nvPr/>
        </p:nvSpPr>
        <p:spPr>
          <a:xfrm>
            <a:off x="5321808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Rosehip</a:t>
            </a:r>
            <a:endParaRPr lang="en-US" sz="1000" dirty="0"/>
          </a:p>
        </p:txBody>
      </p:sp>
      <p:sp>
        <p:nvSpPr>
          <p:cNvPr id="20" name="Group rule Berries &amp; Hips"/>
          <p:cNvSpPr/>
          <p:nvPr/>
        </p:nvSpPr>
        <p:spPr>
          <a:xfrm>
            <a:off x="3877056" y="4114800"/>
            <a:ext cx="2157984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21" name="Group name Berries &amp;amp; Hips"/>
          <p:cNvSpPr txBox="1"/>
          <p:nvPr/>
        </p:nvSpPr>
        <p:spPr>
          <a:xfrm>
            <a:off x="3803904" y="42062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BERRIES &amp; HIPS</a:t>
            </a:r>
            <a:endParaRPr lang="en-US" sz="1100" dirty="0"/>
          </a:p>
        </p:txBody>
      </p:sp>
      <p:pic>
        <p:nvPicPr>
          <p:cNvPr id="22" name="Range Feijoa" descr="SHIRÁ Feijo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8806" y="1188720"/>
            <a:ext cx="729828" cy="2369028"/>
          </a:xfrm>
          <a:prstGeom prst="rect">
            <a:avLst/>
          </a:prstGeom>
        </p:spPr>
      </p:pic>
      <p:sp>
        <p:nvSpPr>
          <p:cNvPr id="23" name="Range label Feijoa"/>
          <p:cNvSpPr txBox="1"/>
          <p:nvPr/>
        </p:nvSpPr>
        <p:spPr>
          <a:xfrm>
            <a:off x="6501384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Feijoa</a:t>
            </a:r>
            <a:endParaRPr lang="en-US" sz="1000" dirty="0"/>
          </a:p>
        </p:txBody>
      </p:sp>
      <p:pic>
        <p:nvPicPr>
          <p:cNvPr id="24" name="Range Pumpkin" descr="SHIRÁ Pumpki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6097" y="1188720"/>
            <a:ext cx="811439" cy="2369028"/>
          </a:xfrm>
          <a:prstGeom prst="rect">
            <a:avLst/>
          </a:prstGeom>
        </p:spPr>
      </p:pic>
      <p:sp>
        <p:nvSpPr>
          <p:cNvPr id="25" name="Range label Pumpkin"/>
          <p:cNvSpPr txBox="1"/>
          <p:nvPr/>
        </p:nvSpPr>
        <p:spPr>
          <a:xfrm>
            <a:off x="7269480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Pumpkin</a:t>
            </a:r>
            <a:endParaRPr lang="en-US" sz="1000" dirty="0"/>
          </a:p>
        </p:txBody>
      </p:sp>
      <p:pic>
        <p:nvPicPr>
          <p:cNvPr id="26" name="Range Tomato" descr="SHIRÁ Tomat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4998" y="1188720"/>
            <a:ext cx="729828" cy="2369028"/>
          </a:xfrm>
          <a:prstGeom prst="rect">
            <a:avLst/>
          </a:prstGeom>
        </p:spPr>
      </p:pic>
      <p:sp>
        <p:nvSpPr>
          <p:cNvPr id="27" name="Range label Tomato"/>
          <p:cNvSpPr txBox="1"/>
          <p:nvPr/>
        </p:nvSpPr>
        <p:spPr>
          <a:xfrm>
            <a:off x="8037576" y="363931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000" dirty="0"/>
          </a:p>
        </p:txBody>
      </p:sp>
      <p:sp>
        <p:nvSpPr>
          <p:cNvPr id="28" name="Group rule Garden &amp; Exotic"/>
          <p:cNvSpPr/>
          <p:nvPr/>
        </p:nvSpPr>
        <p:spPr>
          <a:xfrm>
            <a:off x="6592824" y="4114800"/>
            <a:ext cx="2157984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29" name="Group name Garden &amp;amp; Exotic"/>
          <p:cNvSpPr txBox="1"/>
          <p:nvPr/>
        </p:nvSpPr>
        <p:spPr>
          <a:xfrm>
            <a:off x="6519672" y="42062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&amp; EXOTIC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365760" y="182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dirty="0">
                <a:solidFill>
                  <a:schemeClr val="bg1">
                    <a:alpha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 FAMILY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2148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Orchard</a:t>
            </a:r>
            <a:endParaRPr lang="en-US" sz="4000" dirty="0"/>
          </a:p>
        </p:txBody>
      </p:sp>
      <p:sp>
        <p:nvSpPr>
          <p:cNvPr id="5" name="Tagline"/>
          <p:cNvSpPr txBox="1"/>
          <p:nvPr/>
        </p:nvSpPr>
        <p:spPr>
          <a:xfrm>
            <a:off x="5029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smooth and naturally sweet.</a:t>
            </a:r>
            <a:endParaRPr lang="en-US" sz="1600" dirty="0"/>
          </a:p>
        </p:txBody>
      </p:sp>
      <p:sp>
        <p:nvSpPr>
          <p:cNvPr id="6" name="Flavours"/>
          <p:cNvSpPr txBox="1"/>
          <p:nvPr/>
        </p:nvSpPr>
        <p:spPr>
          <a:xfrm>
            <a:off x="5029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 ·  Pear  ·  Peach  ·  Plum</a:t>
            </a:r>
            <a:endParaRPr lang="en-US" sz="1200" dirty="0"/>
          </a:p>
        </p:txBody>
      </p:sp>
      <p:pic>
        <p:nvPicPr>
          <p:cNvPr id="7" name="Family Apple" descr="SHIRÁ Ap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433" y="822960"/>
            <a:ext cx="1119774" cy="3623219"/>
          </a:xfrm>
          <a:prstGeom prst="rect">
            <a:avLst/>
          </a:prstGeom>
        </p:spPr>
      </p:pic>
      <p:pic>
        <p:nvPicPr>
          <p:cNvPr id="8" name="Family Pear" descr="SHIRÁ Pe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689" y="822960"/>
            <a:ext cx="1180399" cy="3623219"/>
          </a:xfrm>
          <a:prstGeom prst="rect">
            <a:avLst/>
          </a:prstGeom>
        </p:spPr>
      </p:pic>
      <p:pic>
        <p:nvPicPr>
          <p:cNvPr id="9" name="Family Peach" descr="SHIRÁ Pea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087" y="822960"/>
            <a:ext cx="1144737" cy="3623219"/>
          </a:xfrm>
          <a:prstGeom prst="rect">
            <a:avLst/>
          </a:prstGeom>
        </p:spPr>
      </p:pic>
      <p:pic>
        <p:nvPicPr>
          <p:cNvPr id="10" name="Family Plum" descr="SHIRÁ Plu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703" y="822960"/>
            <a:ext cx="1112642" cy="36232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 ·  01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refreshing taste of real apples in every sip.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184 kJ  ·  Fat 0 g  ·  Carbohydrate 10.4 g  ·  Salt 0 g</a:t>
            </a:r>
            <a:endParaRPr lang="en-US" sz="1000" dirty="0"/>
          </a:p>
        </p:txBody>
      </p:sp>
      <p:pic>
        <p:nvPicPr>
          <p:cNvPr id="14" name="Back Apple" descr="SHIRÁ Apple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327" y="914400"/>
            <a:ext cx="1161745" cy="3576767"/>
          </a:xfrm>
          <a:prstGeom prst="rect">
            <a:avLst/>
          </a:prstGeom>
        </p:spPr>
      </p:pic>
      <p:pic>
        <p:nvPicPr>
          <p:cNvPr id="15" name="Front Apple" descr="SHIRÁ Apple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136" y="320040"/>
            <a:ext cx="1292047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 ·  02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refreshing taste of real pears in every sip.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176 kJ  ·  Fat 0 g  ·  Carbohydrate 10.6 g  ·  Salt 0 g</a:t>
            </a:r>
            <a:endParaRPr lang="en-US" sz="1000" dirty="0"/>
          </a:p>
        </p:txBody>
      </p:sp>
      <p:pic>
        <p:nvPicPr>
          <p:cNvPr id="14" name="Back Pear" descr="SHIRÁ Pear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142" y="914400"/>
            <a:ext cx="1570116" cy="3576767"/>
          </a:xfrm>
          <a:prstGeom prst="rect">
            <a:avLst/>
          </a:prstGeom>
        </p:spPr>
      </p:pic>
      <p:pic>
        <p:nvPicPr>
          <p:cNvPr id="15" name="Front Pear" descr="SHIRÁ Pear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161" y="320040"/>
            <a:ext cx="1361999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 ·  03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Peach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naturally sweet taste of real peaches in every sip.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178 kJ  ·  Fat 0 g  ·  Carbohydrate 9.8 g  ·  Salt 0 g</a:t>
            </a:r>
            <a:endParaRPr lang="en-US" sz="1000" dirty="0"/>
          </a:p>
        </p:txBody>
      </p:sp>
      <p:pic>
        <p:nvPicPr>
          <p:cNvPr id="14" name="Back Peach" descr="SHIRÁ Peach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316" y="914400"/>
            <a:ext cx="1337767" cy="3576767"/>
          </a:xfrm>
          <a:prstGeom prst="rect">
            <a:avLst/>
          </a:prstGeom>
        </p:spPr>
      </p:pic>
      <p:pic>
        <p:nvPicPr>
          <p:cNvPr id="15" name="Front Peach" descr="SHIRÁ Peach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35" y="320040"/>
            <a:ext cx="1320851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 ·  04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Plum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smooth taste of real plums in every sip.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189 kJ  ·  Fat 0 g  ·  Carbohydrate 10.9 g  ·  Salt 0 g</a:t>
            </a:r>
            <a:endParaRPr lang="en-US" sz="1000" dirty="0"/>
          </a:p>
        </p:txBody>
      </p:sp>
      <p:pic>
        <p:nvPicPr>
          <p:cNvPr id="14" name="Back Plum" descr="SHIRÁ Plum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120" y="914400"/>
            <a:ext cx="1922160" cy="3576767"/>
          </a:xfrm>
          <a:prstGeom prst="rect">
            <a:avLst/>
          </a:prstGeom>
        </p:spPr>
      </p:pic>
      <p:pic>
        <p:nvPicPr>
          <p:cNvPr id="15" name="Front Plum" descr="SHIRÁ Plum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251" y="320040"/>
            <a:ext cx="1283818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365760" y="182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dirty="0">
                <a:solidFill>
                  <a:schemeClr val="bg1">
                    <a:alpha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 FAMILY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2148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Berries &amp; Hips</a:t>
            </a:r>
            <a:endParaRPr lang="en-US" sz="4000" dirty="0"/>
          </a:p>
        </p:txBody>
      </p:sp>
      <p:sp>
        <p:nvSpPr>
          <p:cNvPr id="5" name="Tagline"/>
          <p:cNvSpPr txBox="1"/>
          <p:nvPr/>
        </p:nvSpPr>
        <p:spPr>
          <a:xfrm>
            <a:off x="5029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bold and vibrantly fresh.</a:t>
            </a:r>
            <a:endParaRPr lang="en-US" sz="1600" dirty="0"/>
          </a:p>
        </p:txBody>
      </p:sp>
      <p:sp>
        <p:nvSpPr>
          <p:cNvPr id="6" name="Flavours"/>
          <p:cNvSpPr txBox="1"/>
          <p:nvPr/>
        </p:nvSpPr>
        <p:spPr>
          <a:xfrm>
            <a:off x="5029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Blackberry  ·  Red Currant  ·  Rosehip</a:t>
            </a:r>
            <a:endParaRPr lang="en-US" sz="1200" dirty="0"/>
          </a:p>
        </p:txBody>
      </p:sp>
      <p:pic>
        <p:nvPicPr>
          <p:cNvPr id="7" name="Family Blackberry" descr="SHIRÁ Blackber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322" y="822960"/>
            <a:ext cx="1248156" cy="3623219"/>
          </a:xfrm>
          <a:prstGeom prst="rect">
            <a:avLst/>
          </a:prstGeom>
        </p:spPr>
      </p:pic>
      <p:pic>
        <p:nvPicPr>
          <p:cNvPr id="8" name="Family Red Currant" descr="SHIRÁ Red Curra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996" y="822960"/>
            <a:ext cx="1162568" cy="3623219"/>
          </a:xfrm>
          <a:prstGeom prst="rect">
            <a:avLst/>
          </a:prstGeom>
        </p:spPr>
      </p:pic>
      <p:pic>
        <p:nvPicPr>
          <p:cNvPr id="9" name="Family Rosehip" descr="SHIRÁ Rose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754" y="822960"/>
            <a:ext cx="1094811" cy="36232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BERRIES &amp; HIPS  ·  05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Blackberry</a:t>
            </a:r>
            <a:endParaRPr lang="en-US" sz="44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bold and refreshing taste of real blackberries.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182 kJ  ·  Fat 0 g  ·  Carbohydrate 10.2 g  ·  Salt 0 g</a:t>
            </a:r>
            <a:endParaRPr lang="en-US" sz="1000" dirty="0"/>
          </a:p>
        </p:txBody>
      </p:sp>
      <p:pic>
        <p:nvPicPr>
          <p:cNvPr id="14" name="Back Blackberry" descr="SHIRÁ Blackberry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801" y="914400"/>
            <a:ext cx="1256797" cy="3576767"/>
          </a:xfrm>
          <a:prstGeom prst="rect">
            <a:avLst/>
          </a:prstGeom>
        </p:spPr>
      </p:pic>
      <p:pic>
        <p:nvPicPr>
          <p:cNvPr id="15" name="Front Blackberry" descr="SHIRÁ Blackberry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70" y="320040"/>
            <a:ext cx="1440180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BERRIES &amp; HIPS  ·  06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Currant</a:t>
            </a:r>
            <a:endParaRPr lang="en-US" sz="44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vivid red currant juice. 100% natural, not from concentrate.</a:t>
            </a:r>
            <a:endParaRPr lang="en-US" sz="1600" dirty="0"/>
          </a:p>
        </p:txBody>
      </p:sp>
      <p:sp>
        <p:nvSpPr>
          <p:cNvPr id="6" name="Nutrition note"/>
          <p:cNvSpPr txBox="1"/>
          <p:nvPr/>
        </p:nvSpPr>
        <p:spPr>
          <a:xfrm>
            <a:off x="5029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details to be confirmed</a:t>
            </a:r>
            <a:endParaRPr lang="en-US" sz="1400" dirty="0"/>
          </a:p>
        </p:txBody>
      </p:sp>
      <p:pic>
        <p:nvPicPr>
          <p:cNvPr id="7" name="Front Red Currant" descr="SHIRÁ Red Currant juice bot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183" y="228600"/>
            <a:ext cx="1371234" cy="4273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BERRIES &amp; HIPS  ·  07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Rosehip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Vibrant, naturally tangy taste of real rosehips.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176 kJ  ·  Fat 0 g  ·  Carbohydrate 9.8 g  ·  Salt 0 g</a:t>
            </a:r>
            <a:endParaRPr lang="en-US" sz="1000" dirty="0"/>
          </a:p>
        </p:txBody>
      </p:sp>
      <p:pic>
        <p:nvPicPr>
          <p:cNvPr id="14" name="Back Rosehip" descr="SHIRÁ Rosehip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129" y="914400"/>
            <a:ext cx="1144143" cy="3576767"/>
          </a:xfrm>
          <a:prstGeom prst="rect">
            <a:avLst/>
          </a:prstGeom>
        </p:spPr>
      </p:pic>
      <p:pic>
        <p:nvPicPr>
          <p:cNvPr id="15" name="Front Rosehip" descr="SHIRÁ Rosehip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538" y="320040"/>
            <a:ext cx="1263244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365760" y="182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dirty="0">
                <a:solidFill>
                  <a:schemeClr val="bg1">
                    <a:alpha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 FAMILY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2148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Garden &amp; Exotic</a:t>
            </a:r>
            <a:endParaRPr lang="en-US" sz="4000" dirty="0"/>
          </a:p>
        </p:txBody>
      </p:sp>
      <p:sp>
        <p:nvSpPr>
          <p:cNvPr id="5" name="Tagline"/>
          <p:cNvSpPr txBox="1"/>
          <p:nvPr/>
        </p:nvSpPr>
        <p:spPr>
          <a:xfrm>
            <a:off x="5029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smooth and naturally rich.</a:t>
            </a:r>
            <a:endParaRPr lang="en-US" sz="1600" dirty="0"/>
          </a:p>
        </p:txBody>
      </p:sp>
      <p:sp>
        <p:nvSpPr>
          <p:cNvPr id="6" name="Flavours"/>
          <p:cNvSpPr txBox="1"/>
          <p:nvPr/>
        </p:nvSpPr>
        <p:spPr>
          <a:xfrm>
            <a:off x="5029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Feijoa  ·  Pumpkin  ·  Tomato</a:t>
            </a:r>
            <a:endParaRPr lang="en-US" sz="1200" dirty="0"/>
          </a:p>
        </p:txBody>
      </p:sp>
      <p:pic>
        <p:nvPicPr>
          <p:cNvPr id="7" name="Family Feijoa" descr="SHIRÁ Feijo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296" y="822960"/>
            <a:ext cx="1116208" cy="3623219"/>
          </a:xfrm>
          <a:prstGeom prst="rect">
            <a:avLst/>
          </a:prstGeom>
        </p:spPr>
      </p:pic>
      <p:pic>
        <p:nvPicPr>
          <p:cNvPr id="8" name="Family Pumpkin" descr="SHIRÁ Pumpk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68" y="822960"/>
            <a:ext cx="1241024" cy="3623219"/>
          </a:xfrm>
          <a:prstGeom prst="rect">
            <a:avLst/>
          </a:prstGeom>
        </p:spPr>
      </p:pic>
      <p:pic>
        <p:nvPicPr>
          <p:cNvPr id="9" name="Family Tomato" descr="SHIRÁ Toma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056" y="822960"/>
            <a:ext cx="1116208" cy="36232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&amp; EXOTIC  ·  08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Feijoa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unique, refreshing taste of real feijoa in every sip.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186 kJ  ·  Fat 0 g  ·  Carbohydrate 10.8 g  ·  Salt 0 g</a:t>
            </a:r>
            <a:endParaRPr lang="en-US" sz="1000" dirty="0"/>
          </a:p>
        </p:txBody>
      </p:sp>
      <p:pic>
        <p:nvPicPr>
          <p:cNvPr id="14" name="Back Feijoa" descr="SHIRÁ Feijoa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690" y="914400"/>
            <a:ext cx="1123020" cy="3576767"/>
          </a:xfrm>
          <a:prstGeom prst="rect">
            <a:avLst/>
          </a:prstGeom>
        </p:spPr>
      </p:pic>
      <p:pic>
        <p:nvPicPr>
          <p:cNvPr id="15" name="Front Feijoa" descr="SHIRÁ Feijoa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194" y="320040"/>
            <a:ext cx="1287932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&amp; EXOTIC  ·  09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Pumpkin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naturally sweet taste of real pumpkin in every sip.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153 kJ  ·  Fat 0 g  ·  Carbohydrate 8.3 g  ·  Salt 0 g</a:t>
            </a:r>
            <a:endParaRPr lang="en-US" sz="1000" dirty="0"/>
          </a:p>
        </p:txBody>
      </p:sp>
      <p:pic>
        <p:nvPicPr>
          <p:cNvPr id="14" name="Back Pumpkin" descr="SHIRÁ Pumpkin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889" y="914400"/>
            <a:ext cx="1140623" cy="3576767"/>
          </a:xfrm>
          <a:prstGeom prst="rect">
            <a:avLst/>
          </a:prstGeom>
        </p:spPr>
      </p:pic>
      <p:pic>
        <p:nvPicPr>
          <p:cNvPr id="15" name="Front Pumpkin" descr="SHIRÁ Pumpkin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185" y="320040"/>
            <a:ext cx="1431950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 number"/>
          <p:cNvSpPr txBox="1"/>
          <p:nvPr/>
        </p:nvSpPr>
        <p:spPr>
          <a:xfrm>
            <a:off x="4937760" y="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chemeClr val="bg1">
                    <a:alpha val="9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0" dirty="0"/>
          </a:p>
        </p:txBody>
      </p:sp>
      <p:sp>
        <p:nvSpPr>
          <p:cNvPr id="3" name="Kicker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&amp; EXOTIC  ·  10 / 10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02920" y="822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</a:t>
            </a:r>
            <a:endParaRPr lang="en-US" sz="5200" dirty="0"/>
          </a:p>
        </p:txBody>
      </p:sp>
      <p:sp>
        <p:nvSpPr>
          <p:cNvPr id="5" name="Taste"/>
          <p:cNvSpPr txBox="1"/>
          <p:nvPr/>
        </p:nvSpPr>
        <p:spPr>
          <a:xfrm>
            <a:off x="50292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natural taste of real sun-ripened tomatoes.</a:t>
            </a:r>
            <a:endParaRPr lang="en-US" sz="1600" dirty="0"/>
          </a:p>
        </p:txBody>
      </p:sp>
      <p:sp>
        <p:nvSpPr>
          <p:cNvPr id="6" name="Per 100 ml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7" name="Stat kcal"/>
          <p:cNvSpPr txBox="1"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8" name="Stat label kcal"/>
          <p:cNvSpPr txBox="1"/>
          <p:nvPr/>
        </p:nvSpPr>
        <p:spPr>
          <a:xfrm>
            <a:off x="5029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9" name="Stat sugars"/>
          <p:cNvSpPr txBox="1"/>
          <p:nvPr/>
        </p:nvSpPr>
        <p:spPr>
          <a:xfrm>
            <a:off x="1673352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0" name="Stat label sugars"/>
          <p:cNvSpPr txBox="1"/>
          <p:nvPr/>
        </p:nvSpPr>
        <p:spPr>
          <a:xfrm>
            <a:off x="1673352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1" name="Stat protein"/>
          <p:cNvSpPr txBox="1"/>
          <p:nvPr/>
        </p:nvSpPr>
        <p:spPr>
          <a:xfrm>
            <a:off x="2843784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</a:t>
            </a:r>
            <a:pPr indent="0" marL="0">
              <a:buNone/>
            </a:pPr>
            <a:r>
              <a:rPr lang="en-US" sz="1600" b="1" dirty="0">
                <a:solidFill>
                  <a:srgbClr val="FF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3200" dirty="0"/>
          </a:p>
        </p:txBody>
      </p:sp>
      <p:sp>
        <p:nvSpPr>
          <p:cNvPr id="12" name="Stat label protein"/>
          <p:cNvSpPr txBox="1"/>
          <p:nvPr/>
        </p:nvSpPr>
        <p:spPr>
          <a:xfrm>
            <a:off x="2843784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3" name="Nutrition detail"/>
          <p:cNvSpPr txBox="1"/>
          <p:nvPr/>
        </p:nvSpPr>
        <p:spPr>
          <a:xfrm>
            <a:off x="502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82 kJ  ·  Fat 0.2 g  ·  Carbohydrate 3.9 g  ·  Salt 0.01 g</a:t>
            </a:r>
            <a:endParaRPr lang="en-US" sz="1000" dirty="0"/>
          </a:p>
        </p:txBody>
      </p:sp>
      <p:pic>
        <p:nvPicPr>
          <p:cNvPr id="14" name="Back Tomato" descr="SHIRÁ Tomato back label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930" y="914400"/>
            <a:ext cx="1126541" cy="3576767"/>
          </a:xfrm>
          <a:prstGeom prst="rect">
            <a:avLst/>
          </a:prstGeom>
        </p:spPr>
      </p:pic>
      <p:pic>
        <p:nvPicPr>
          <p:cNvPr id="15" name="Front Tomato" descr="SHIRÁ Tomato juice bot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194" y="320040"/>
            <a:ext cx="1287932" cy="4180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by nature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325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juice stays between 36 and 45 kcal per 100 ml. Tomato is the lightest at 20 kcal.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73736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09160" y="173736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ource note"/>
          <p:cNvSpPr txBox="1"/>
          <p:nvPr/>
        </p:nvSpPr>
        <p:spPr>
          <a:xfrm>
            <a:off x="18288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from product labels. Red Currant: nutrition data to be confirmed.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 LABEL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02920" y="685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shopper needs to know</a:t>
            </a:r>
            <a:endParaRPr lang="en-US" sz="2800" dirty="0"/>
          </a:p>
        </p:txBody>
      </p:sp>
      <p:pic>
        <p:nvPicPr>
          <p:cNvPr id="4" name="Back label bottle" descr="SHIRÁ back label showing story, ingredients, storage, nutrition table, claims and ba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562" y="502920"/>
            <a:ext cx="1528877" cy="4087734"/>
          </a:xfrm>
          <a:prstGeom prst="rect">
            <a:avLst/>
          </a:prstGeom>
        </p:spPr>
      </p:pic>
      <p:sp>
        <p:nvSpPr>
          <p:cNvPr id="5" name="Leader 1"/>
          <p:cNvSpPr/>
          <p:nvPr/>
        </p:nvSpPr>
        <p:spPr>
          <a:xfrm>
            <a:off x="2788920" y="2185416"/>
            <a:ext cx="1362456" cy="329184"/>
          </a:xfrm>
          <a:prstGeom prst="line">
            <a:avLst/>
          </a:prstGeom>
          <a:noFill/>
          <a:ln w="9525">
            <a:solidFill>
              <a:srgbClr val="D9B866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4023360" y="2386584"/>
            <a:ext cx="256032" cy="256032"/>
          </a:xfrm>
          <a:prstGeom prst="ellipse">
            <a:avLst/>
          </a:prstGeom>
          <a:solidFill>
            <a:srgbClr val="D9B866"/>
          </a:solidFill>
          <a:ln w="12700">
            <a:solidFill>
              <a:srgbClr val="D9B866"/>
            </a:solidFill>
            <a:prstDash val="solid"/>
          </a:ln>
        </p:spPr>
      </p:sp>
      <p:sp>
        <p:nvSpPr>
          <p:cNvPr id="7" name="Marker text 1"/>
          <p:cNvSpPr txBox="1"/>
          <p:nvPr/>
        </p:nvSpPr>
        <p:spPr>
          <a:xfrm>
            <a:off x="402336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Callout title 1"/>
          <p:cNvSpPr txBox="1"/>
          <p:nvPr/>
        </p:nvSpPr>
        <p:spPr>
          <a:xfrm>
            <a:off x="50292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</a:t>
            </a:r>
            <a:endParaRPr lang="en-US" sz="1300" dirty="0"/>
          </a:p>
        </p:txBody>
      </p:sp>
      <p:sp>
        <p:nvSpPr>
          <p:cNvPr id="9" name="Callout text 1"/>
          <p:cNvSpPr txBox="1"/>
          <p:nvPr/>
        </p:nvSpPr>
        <p:spPr>
          <a:xfrm>
            <a:off x="50292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on the fruit and its taste.</a:t>
            </a:r>
            <a:endParaRPr lang="en-US" sz="1100" dirty="0"/>
          </a:p>
        </p:txBody>
      </p:sp>
      <p:sp>
        <p:nvSpPr>
          <p:cNvPr id="10" name="Leader 2"/>
          <p:cNvSpPr/>
          <p:nvPr/>
        </p:nvSpPr>
        <p:spPr>
          <a:xfrm flipV="1">
            <a:off x="2788920" y="2796235"/>
            <a:ext cx="1362456" cy="120701"/>
          </a:xfrm>
          <a:prstGeom prst="line">
            <a:avLst/>
          </a:prstGeom>
          <a:noFill/>
          <a:ln w="9525">
            <a:solidFill>
              <a:srgbClr val="D9B866"/>
            </a:solidFill>
            <a:prstDash val="solid"/>
          </a:ln>
        </p:spPr>
      </p:sp>
      <p:sp>
        <p:nvSpPr>
          <p:cNvPr id="11" name="Marker 2"/>
          <p:cNvSpPr/>
          <p:nvPr/>
        </p:nvSpPr>
        <p:spPr>
          <a:xfrm>
            <a:off x="4023360" y="2668219"/>
            <a:ext cx="256032" cy="256032"/>
          </a:xfrm>
          <a:prstGeom prst="ellipse">
            <a:avLst/>
          </a:prstGeom>
          <a:solidFill>
            <a:srgbClr val="D9B866"/>
          </a:solidFill>
          <a:ln w="12700">
            <a:solidFill>
              <a:srgbClr val="D9B866"/>
            </a:solidFill>
            <a:prstDash val="solid"/>
          </a:ln>
        </p:spPr>
      </p:sp>
      <p:sp>
        <p:nvSpPr>
          <p:cNvPr id="12" name="Marker text 2"/>
          <p:cNvSpPr txBox="1"/>
          <p:nvPr/>
        </p:nvSpPr>
        <p:spPr>
          <a:xfrm>
            <a:off x="4023360" y="26682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Callout title 2"/>
          <p:cNvSpPr txBox="1"/>
          <p:nvPr/>
        </p:nvSpPr>
        <p:spPr>
          <a:xfrm>
            <a:off x="502920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14" name="Callout text 2"/>
          <p:cNvSpPr txBox="1"/>
          <p:nvPr/>
        </p:nvSpPr>
        <p:spPr>
          <a:xfrm>
            <a:off x="50292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juice. Nothing else.</a:t>
            </a:r>
            <a:endParaRPr lang="en-US" sz="1100" dirty="0"/>
          </a:p>
        </p:txBody>
      </p:sp>
      <p:sp>
        <p:nvSpPr>
          <p:cNvPr id="15" name="Leader 3"/>
          <p:cNvSpPr/>
          <p:nvPr/>
        </p:nvSpPr>
        <p:spPr>
          <a:xfrm flipV="1">
            <a:off x="2788920" y="3037637"/>
            <a:ext cx="1362456" cy="610819"/>
          </a:xfrm>
          <a:prstGeom prst="line">
            <a:avLst/>
          </a:prstGeom>
          <a:noFill/>
          <a:ln w="9525">
            <a:solidFill>
              <a:srgbClr val="D9B866"/>
            </a:solidFill>
            <a:prstDash val="solid"/>
          </a:ln>
        </p:spPr>
      </p:sp>
      <p:sp>
        <p:nvSpPr>
          <p:cNvPr id="16" name="Marker 3"/>
          <p:cNvSpPr/>
          <p:nvPr/>
        </p:nvSpPr>
        <p:spPr>
          <a:xfrm>
            <a:off x="4023360" y="2909621"/>
            <a:ext cx="256032" cy="256032"/>
          </a:xfrm>
          <a:prstGeom prst="ellipse">
            <a:avLst/>
          </a:prstGeom>
          <a:solidFill>
            <a:srgbClr val="D9B866"/>
          </a:solidFill>
          <a:ln w="12700">
            <a:solidFill>
              <a:srgbClr val="D9B866"/>
            </a:solidFill>
            <a:prstDash val="solid"/>
          </a:ln>
        </p:spPr>
      </p:sp>
      <p:sp>
        <p:nvSpPr>
          <p:cNvPr id="17" name="Marker text 3"/>
          <p:cNvSpPr txBox="1"/>
          <p:nvPr/>
        </p:nvSpPr>
        <p:spPr>
          <a:xfrm>
            <a:off x="4023360" y="29096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Callout title 3"/>
          <p:cNvSpPr txBox="1"/>
          <p:nvPr/>
        </p:nvSpPr>
        <p:spPr>
          <a:xfrm>
            <a:off x="502920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9" name="Callout text 3"/>
          <p:cNvSpPr txBox="1"/>
          <p:nvPr/>
        </p:nvSpPr>
        <p:spPr>
          <a:xfrm>
            <a:off x="5029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Cool, dry place. Refrigerate after opening, drink within 3 days.</a:t>
            </a:r>
            <a:endParaRPr lang="en-US" sz="1100" dirty="0"/>
          </a:p>
        </p:txBody>
      </p:sp>
      <p:sp>
        <p:nvSpPr>
          <p:cNvPr id="20" name="Leader 4"/>
          <p:cNvSpPr/>
          <p:nvPr/>
        </p:nvSpPr>
        <p:spPr>
          <a:xfrm flipV="1">
            <a:off x="4992624" y="2231136"/>
            <a:ext cx="1362456" cy="1249070"/>
          </a:xfrm>
          <a:prstGeom prst="line">
            <a:avLst/>
          </a:prstGeom>
          <a:noFill/>
          <a:ln w="9525">
            <a:solidFill>
              <a:srgbClr val="D9B866"/>
            </a:solidFill>
            <a:prstDash val="solid"/>
          </a:ln>
        </p:spPr>
      </p:sp>
      <p:sp>
        <p:nvSpPr>
          <p:cNvPr id="21" name="Marker 4"/>
          <p:cNvSpPr/>
          <p:nvPr/>
        </p:nvSpPr>
        <p:spPr>
          <a:xfrm>
            <a:off x="4864608" y="3352190"/>
            <a:ext cx="256032" cy="256032"/>
          </a:xfrm>
          <a:prstGeom prst="ellipse">
            <a:avLst/>
          </a:prstGeom>
          <a:solidFill>
            <a:srgbClr val="D9B866"/>
          </a:solidFill>
          <a:ln w="12700">
            <a:solidFill>
              <a:srgbClr val="D9B866"/>
            </a:solidFill>
            <a:prstDash val="solid"/>
          </a:ln>
        </p:spPr>
      </p:sp>
      <p:sp>
        <p:nvSpPr>
          <p:cNvPr id="22" name="Marker text 4"/>
          <p:cNvSpPr txBox="1"/>
          <p:nvPr/>
        </p:nvSpPr>
        <p:spPr>
          <a:xfrm>
            <a:off x="4864608" y="33521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Callout title 4"/>
          <p:cNvSpPr txBox="1"/>
          <p:nvPr/>
        </p:nvSpPr>
        <p:spPr>
          <a:xfrm>
            <a:off x="649224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table</a:t>
            </a:r>
            <a:endParaRPr lang="en-US" sz="1300" dirty="0"/>
          </a:p>
        </p:txBody>
      </p:sp>
      <p:sp>
        <p:nvSpPr>
          <p:cNvPr id="24" name="Callout text 4"/>
          <p:cNvSpPr txBox="1"/>
          <p:nvPr/>
        </p:nvSpPr>
        <p:spPr>
          <a:xfrm>
            <a:off x="649224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fat, carbohydrate, sugars, protein and salt per 100 ml.</a:t>
            </a:r>
            <a:endParaRPr lang="en-US" sz="1100" dirty="0"/>
          </a:p>
        </p:txBody>
      </p:sp>
      <p:sp>
        <p:nvSpPr>
          <p:cNvPr id="25" name="Leader 5"/>
          <p:cNvSpPr/>
          <p:nvPr/>
        </p:nvSpPr>
        <p:spPr>
          <a:xfrm flipV="1">
            <a:off x="4992624" y="3054096"/>
            <a:ext cx="1362456" cy="828446"/>
          </a:xfrm>
          <a:prstGeom prst="line">
            <a:avLst/>
          </a:prstGeom>
          <a:noFill/>
          <a:ln w="9525">
            <a:solidFill>
              <a:srgbClr val="D9B866"/>
            </a:solidFill>
            <a:prstDash val="solid"/>
          </a:ln>
        </p:spPr>
      </p:sp>
      <p:sp>
        <p:nvSpPr>
          <p:cNvPr id="26" name="Marker 5"/>
          <p:cNvSpPr/>
          <p:nvPr/>
        </p:nvSpPr>
        <p:spPr>
          <a:xfrm>
            <a:off x="4864608" y="3754526"/>
            <a:ext cx="256032" cy="256032"/>
          </a:xfrm>
          <a:prstGeom prst="ellipse">
            <a:avLst/>
          </a:prstGeom>
          <a:solidFill>
            <a:srgbClr val="D9B866"/>
          </a:solidFill>
          <a:ln w="12700">
            <a:solidFill>
              <a:srgbClr val="D9B866"/>
            </a:solidFill>
            <a:prstDash val="solid"/>
          </a:ln>
        </p:spPr>
      </p:sp>
      <p:sp>
        <p:nvSpPr>
          <p:cNvPr id="27" name="Marker text 5"/>
          <p:cNvSpPr txBox="1"/>
          <p:nvPr/>
        </p:nvSpPr>
        <p:spPr>
          <a:xfrm>
            <a:off x="4864608" y="37545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Callout title 5"/>
          <p:cNvSpPr txBox="1"/>
          <p:nvPr/>
        </p:nvSpPr>
        <p:spPr>
          <a:xfrm>
            <a:off x="649224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300" dirty="0"/>
          </a:p>
        </p:txBody>
      </p:sp>
      <p:sp>
        <p:nvSpPr>
          <p:cNvPr id="29" name="Callout text 5"/>
          <p:cNvSpPr txBox="1"/>
          <p:nvPr/>
        </p:nvSpPr>
        <p:spPr>
          <a:xfrm>
            <a:off x="64922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added sugar · No preservatives · 100% natural.</a:t>
            </a:r>
            <a:endParaRPr lang="en-US" sz="1100" dirty="0"/>
          </a:p>
        </p:txBody>
      </p:sp>
      <p:sp>
        <p:nvSpPr>
          <p:cNvPr id="30" name="Leader 6"/>
          <p:cNvSpPr/>
          <p:nvPr/>
        </p:nvSpPr>
        <p:spPr>
          <a:xfrm flipV="1">
            <a:off x="4992624" y="3877056"/>
            <a:ext cx="1362456" cy="287122"/>
          </a:xfrm>
          <a:prstGeom prst="line">
            <a:avLst/>
          </a:prstGeom>
          <a:noFill/>
          <a:ln w="9525">
            <a:solidFill>
              <a:srgbClr val="D9B866"/>
            </a:solidFill>
            <a:prstDash val="solid"/>
          </a:ln>
        </p:spPr>
      </p:sp>
      <p:sp>
        <p:nvSpPr>
          <p:cNvPr id="31" name="Marker 6"/>
          <p:cNvSpPr/>
          <p:nvPr/>
        </p:nvSpPr>
        <p:spPr>
          <a:xfrm>
            <a:off x="4864608" y="4036162"/>
            <a:ext cx="256032" cy="256032"/>
          </a:xfrm>
          <a:prstGeom prst="ellipse">
            <a:avLst/>
          </a:prstGeom>
          <a:solidFill>
            <a:srgbClr val="D9B866"/>
          </a:solidFill>
          <a:ln w="12700">
            <a:solidFill>
              <a:srgbClr val="D9B866"/>
            </a:solidFill>
            <a:prstDash val="solid"/>
          </a:ln>
        </p:spPr>
      </p:sp>
      <p:sp>
        <p:nvSpPr>
          <p:cNvPr id="32" name="Marker text 6"/>
          <p:cNvSpPr txBox="1"/>
          <p:nvPr/>
        </p:nvSpPr>
        <p:spPr>
          <a:xfrm>
            <a:off x="4864608" y="40361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Callout title 6"/>
          <p:cNvSpPr txBox="1"/>
          <p:nvPr/>
        </p:nvSpPr>
        <p:spPr>
          <a:xfrm>
            <a:off x="649224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and recycling</a:t>
            </a:r>
            <a:endParaRPr lang="en-US" sz="1300" dirty="0"/>
          </a:p>
        </p:txBody>
      </p:sp>
      <p:sp>
        <p:nvSpPr>
          <p:cNvPr id="34" name="Callout text 6"/>
          <p:cNvSpPr txBox="1"/>
          <p:nvPr/>
        </p:nvSpPr>
        <p:spPr>
          <a:xfrm>
            <a:off x="649224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Retail-ready barcode, recycle mark and glass icon.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02920" y="14630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goodness,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bottled.</a:t>
            </a:r>
            <a:endParaRPr lang="en-US" sz="4400" dirty="0"/>
          </a:p>
        </p:txBody>
      </p:sp>
      <p:sp>
        <p:nvSpPr>
          <p:cNvPr id="4" name="Closing line"/>
          <p:cNvSpPr txBox="1"/>
          <p:nvPr/>
        </p:nvSpPr>
        <p:spPr>
          <a:xfrm>
            <a:off x="502920" y="3108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flavours. 100% juice. Nothing else.</a:t>
            </a:r>
            <a:endParaRPr lang="en-US" sz="1600" dirty="0"/>
          </a:p>
        </p:txBody>
      </p:sp>
      <p:pic>
        <p:nvPicPr>
          <p:cNvPr id="5" name="Closing peach" descr="SHIRÁ Pea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60" y="1143000"/>
            <a:ext cx="1056681" cy="3344509"/>
          </a:xfrm>
          <a:prstGeom prst="rect">
            <a:avLst/>
          </a:prstGeom>
        </p:spPr>
      </p:pic>
      <p:pic>
        <p:nvPicPr>
          <p:cNvPr id="6" name="Closing tomato" descr="SHIRÁ Toma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667" y="1143000"/>
            <a:ext cx="1030346" cy="3344509"/>
          </a:xfrm>
          <a:prstGeom prst="rect">
            <a:avLst/>
          </a:prstGeom>
        </p:spPr>
      </p:pic>
      <p:pic>
        <p:nvPicPr>
          <p:cNvPr id="7" name="Closing blackberry" descr="SHIRÁ Blackber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11480"/>
            <a:ext cx="1408176" cy="40877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ra Premium">
  <a:themeElements>
    <a:clrScheme name="Shira Premium">
      <a:dk1>
        <a:srgbClr val="14100E"/>
      </a:dk1>
      <a:lt1>
        <a:srgbClr val="FFFFFF"/>
      </a:lt1>
      <a:dk2>
        <a:srgbClr val="3A2A20"/>
      </a:dk2>
      <a:lt2>
        <a:srgbClr val="F6F1E7"/>
      </a:lt2>
      <a:accent1>
        <a:srgbClr val="D9B866"/>
      </a:accent1>
      <a:accent2>
        <a:srgbClr val="B8923A"/>
      </a:accent2>
      <a:accent3>
        <a:srgbClr val="7A1535"/>
      </a:accent3>
      <a:accent4>
        <a:srgbClr val="C0281C"/>
      </a:accent4>
      <a:accent5>
        <a:srgbClr val="8A8A1E"/>
      </a:accent5>
      <a:accent6>
        <a:srgbClr val="5B1A4A"/>
      </a:accent6>
      <a:hlink>
        <a:srgbClr val="D9B866"/>
      </a:hlink>
      <a:folHlink>
        <a:srgbClr val="B8923A"/>
      </a:folHlink>
    </a:clrScheme>
    <a:fontScheme name="Shira Premi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SHIRÁ Natural Juices – Range Presentation</dc:title>
  <dc:subject>PptxGenJS Presentation</dc:subject>
  <dc:creator>SHIRÁ</dc:creator>
  <cp:lastModifiedBy>SHIRÁ</cp:lastModifiedBy>
  <cp:revision>1</cp:revision>
  <dcterms:created xsi:type="dcterms:W3CDTF">2026-10-18T03:55:11Z</dcterms:created>
  <dcterms:modified xsi:type="dcterms:W3CDTF">2026-10-18T03:55:11Z</dcterms:modified>
</cp:coreProperties>
</file>